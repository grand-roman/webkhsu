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1" r:id="rId3"/>
    <p:sldId id="272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273" r:id="rId12"/>
    <p:sldId id="313" r:id="rId13"/>
    <p:sldId id="314" r:id="rId14"/>
    <p:sldId id="315" r:id="rId15"/>
    <p:sldId id="316" r:id="rId16"/>
    <p:sldId id="317" r:id="rId17"/>
    <p:sldId id="318" r:id="rId18"/>
    <p:sldId id="274" r:id="rId19"/>
    <p:sldId id="319" r:id="rId20"/>
    <p:sldId id="275" r:id="rId21"/>
    <p:sldId id="320" r:id="rId22"/>
    <p:sldId id="321" r:id="rId23"/>
    <p:sldId id="322" r:id="rId24"/>
    <p:sldId id="323" r:id="rId25"/>
    <p:sldId id="324" r:id="rId26"/>
    <p:sldId id="265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92"/>
    <p:restoredTop sz="94678"/>
  </p:normalViewPr>
  <p:slideViewPr>
    <p:cSldViewPr snapToGrid="0" snapToObjects="1">
      <p:cViewPr varScale="1">
        <p:scale>
          <a:sx n="149" d="100"/>
          <a:sy n="149" d="100"/>
        </p:scale>
        <p:origin x="20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59D23-995A-5C40-8E40-2A0DEDDC56B2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7FC1A-62DF-F94B-95E2-EFE9477F0B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30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6F83C-19BC-234D-B7DD-52EFE7EFE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D52901-744B-FE4A-9887-0B4551F61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7F1DD-19D7-8143-A6F5-272463B1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8EF4-B7A5-E645-BAD4-16304AFEF7A2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FC3CFD-13FC-B743-9C1E-A52D560B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6C2DB-695A-EE42-88E9-14F483B3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18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F9F7A-E882-6441-A3F3-D8CCCBA7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20757-5EC2-B14A-8752-0FBA0EB7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A9174-6EB2-B745-BEE3-A5B76575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A913-B5D8-644B-9DF1-FAA12DCA1373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91DC5-0F2A-F943-84BF-D4E8E61E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139BE-DBB0-0C4A-B4CE-05A12D26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69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4F1C0-0DA9-CE41-B448-98465EED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FBEE4D-4952-D348-9753-39BEFC58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9721A1-30CC-AF49-A65E-73146E14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FE78-B8C9-9345-9E20-42027A2C2BCF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30146-6DF1-3C42-B9DD-5233499D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9BEE0-F835-D343-8446-31CC451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5C238-1D79-FD4B-9344-ADF965A6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0D786-D0F9-474A-A20D-AEFA4F1B7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33BD19-9922-B34B-96AB-68514E500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11F2D1-9168-E04F-83E8-53AF9D91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B37C-A8F0-D04B-96F6-8ECCD748D203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B9B3B7-0D40-454C-8AFD-59F88AD8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C56D33-F018-464E-A16D-B90530EE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65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53AE1-BA27-2E4F-8978-DCF46DAE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8F43BB-F83A-184D-B279-D3BC7EFED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D697D7-F73A-9145-92AD-C6112184B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DD733D-01F2-3540-ABC1-6F7B7E5FC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3D2EEE-6914-184C-9719-8D85B3F61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B7087C-1541-444A-8670-801FD7F2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0DB2-86D0-8F41-BF0F-6AD758615A83}" type="datetime1">
              <a:rPr lang="ru-RU" smtClean="0"/>
              <a:t>08.04.2026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574A09-3C15-F64F-8159-2A2EC7D3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1A9BD-4D5A-144B-9FDA-001371DD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0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4DDB9-CC17-FC4A-9455-2FE57F46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BD3AC6-5B47-1E42-A9D3-CB7F0F5E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ADC4-747C-B840-9E78-4EC6A1173D8F}" type="datetime1">
              <a:rPr lang="ru-RU" smtClean="0"/>
              <a:t>08.04.2026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16DF23-9F65-4941-9E73-713C1193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B61F16-192A-8947-915A-8EB484D1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1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3993C7-11D5-D644-9F4E-E79250B9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9CD8-69B9-184B-BEF2-E15A1A6BD144}" type="datetime1">
              <a:rPr lang="ru-RU" smtClean="0"/>
              <a:t>08.04.2026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DB89B-C355-B94F-A958-4F8D63EE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030931-A351-9143-B234-CF83DFEC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12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F627B-28E3-794E-A50D-FC341972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4B107-B3B7-0940-BAC4-B505FF12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A3BE8-4A70-7C43-B931-85E64BE93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90E174-D20D-6D4C-B6F1-BB6CD0CA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CDE0-90A8-4E42-8CBC-B5A612C5A232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D78E2A-053B-1F47-B597-22247ACC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6E5453-86A4-F740-B283-2BB1F9E0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81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0E2FB-1B5D-D246-8C7A-0F7233A4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9440EE-D697-3846-99A1-CF6151AD5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326109-D930-EE44-ABF0-3EF3EC2F3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DD8D70-D3E5-F84D-9A0A-1C0D8F60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FF8C-483D-0E46-A85F-F0031407D124}" type="datetime1">
              <a:rPr lang="ru-RU" smtClean="0"/>
              <a:t>08.04.2026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439217-06F2-FA40-8F97-9DB25612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21B61C-2D07-3C45-81B9-3EAAD5D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44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C510A-DA09-624E-ACDD-BACECEB3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013BAF-3176-4742-BFF2-9A13902B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B59F7-023B-6D41-BD74-1CBA5A9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84C0C-FDFE-1D41-A8A1-D3A20A2CC7E9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901417-D45A-6442-A63C-38301977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71CA0F-C2DF-134C-870B-AD748A81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9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ADD42-F2BD-3745-A49B-3F2FDCB6A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E2A924-3113-5E47-B3A2-590FEA3E4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DCFEFA-FB45-324E-A0F2-DABE81D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0991-19BE-504C-8500-A9F611611E8B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8D8A4-DC77-A04D-9B6F-04BE8828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C3091-CE8E-AA40-9039-05C349AD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8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4650A-EF6D-AC45-846C-2BE7C614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651BDB-C15C-3B4A-833B-C3441CD2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1C842-642C-384F-947C-2A7D610D7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ED625-D3F7-6E47-9DB0-29376AC6D566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829627-CC48-004C-851B-BE19B2131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7C679-103B-3C4D-AF94-D9C7F4959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127.0.0.1:8000/adm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174CC-0410-9442-B9B4-3EE8D105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C5A24F-285A-CB48-9DC0-916DBCB22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5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Django</a:t>
            </a:r>
            <a:r>
              <a:rPr lang="ru-RU" b="1" dirty="0"/>
              <a:t> </a:t>
            </a:r>
            <a:r>
              <a:rPr lang="en-US" b="1" dirty="0"/>
              <a:t>Models</a:t>
            </a:r>
            <a:endParaRPr lang="ru-RU" b="1" dirty="0"/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59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Система управления базами данных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590060" y="1326129"/>
            <a:ext cx="418876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Управление данными — это большая часть работы в любом проекте. Информация о пользователях, описания и цены на товары, географические координаты — всё это данные, которые необходимо сохранять, обрабатывать и предоставлять пользователям.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Для хранения информации придумали </a:t>
            </a:r>
            <a:r>
              <a:rPr lang="ru-RU" b="1" i="0" u="none" strike="noStrike" dirty="0">
                <a:effectLst/>
                <a:latin typeface="YS Text"/>
              </a:rPr>
              <a:t>базы данных</a:t>
            </a:r>
            <a:r>
              <a:rPr lang="ru-RU" b="0" i="0" u="none" strike="noStrike" dirty="0">
                <a:effectLst/>
                <a:latin typeface="YS Text"/>
              </a:rPr>
              <a:t> — системы для хранения информации и доступа к ней.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E0CD6A-9F9E-B84B-A629-9DD06A1764C8}"/>
              </a:ext>
            </a:extLst>
          </p:cNvPr>
          <p:cNvSpPr/>
          <p:nvPr/>
        </p:nvSpPr>
        <p:spPr>
          <a:xfrm>
            <a:off x="590060" y="4207639"/>
            <a:ext cx="429762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u="none" strike="noStrike" dirty="0">
                <a:effectLst/>
                <a:latin typeface="YS Text"/>
              </a:rPr>
              <a:t>Роль библиотекаря в базах данных выполняет </a:t>
            </a:r>
            <a:r>
              <a:rPr lang="ru-RU" b="1" i="0" u="none" strike="noStrike" dirty="0">
                <a:effectLst/>
                <a:latin typeface="YS Text"/>
              </a:rPr>
              <a:t>система управления базами данных</a:t>
            </a:r>
            <a:r>
              <a:rPr lang="ru-RU" b="0" i="0" u="none" strike="noStrike" dirty="0">
                <a:effectLst/>
                <a:latin typeface="YS Text"/>
              </a:rPr>
              <a:t>, </a:t>
            </a:r>
            <a:r>
              <a:rPr lang="ru-RU" b="1" i="0" u="none" strike="noStrike" dirty="0">
                <a:effectLst/>
                <a:latin typeface="YS Text"/>
              </a:rPr>
              <a:t>СУБД</a:t>
            </a:r>
            <a:r>
              <a:rPr lang="ru-RU" b="0" i="0" u="none" strike="noStrike" dirty="0">
                <a:effectLst/>
                <a:latin typeface="YS Text"/>
              </a:rPr>
              <a:t>. </a:t>
            </a:r>
            <a:endParaRPr lang="en-US" dirty="0">
              <a:latin typeface="YS Tex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Стоит дать ей команду, и она: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создаст базу или таблицу в базе;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внесёт новые данные или удалит ненужные;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получит из базы нужную информацию по заданному условию;</a:t>
            </a:r>
          </a:p>
          <a:p>
            <a:endParaRPr lang="ru-RU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69B5ED-EFD4-D818-584F-E22C2C3E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685" y="1567543"/>
            <a:ext cx="6841671" cy="426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3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Реляционные базы данных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3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E50161-915A-D041-8035-CCD83F64BFFA}"/>
              </a:ext>
            </a:extLst>
          </p:cNvPr>
          <p:cNvSpPr/>
          <p:nvPr/>
        </p:nvSpPr>
        <p:spPr>
          <a:xfrm>
            <a:off x="754566" y="1773503"/>
            <a:ext cx="35779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u="none" strike="noStrike" dirty="0">
                <a:effectLst/>
                <a:latin typeface="YS Text"/>
              </a:rPr>
              <a:t>Реляционную базу данных можно представить в виде </a:t>
            </a:r>
            <a:r>
              <a:rPr lang="ru-RU" b="1" i="0" u="none" strike="noStrike" dirty="0">
                <a:effectLst/>
                <a:latin typeface="YS Text"/>
              </a:rPr>
              <a:t>набора таблиц с информацией</a:t>
            </a:r>
            <a:r>
              <a:rPr lang="ru-RU" b="0" i="0" u="none" strike="noStrike" dirty="0">
                <a:effectLst/>
                <a:latin typeface="YS Text"/>
              </a:rPr>
              <a:t>, хранящихся в одном пространстве — вроде </a:t>
            </a:r>
            <a:r>
              <a:rPr lang="en" b="0" i="0" u="none" strike="noStrike" dirty="0">
                <a:effectLst/>
                <a:latin typeface="YS Text"/>
              </a:rPr>
              <a:t>excel-</a:t>
            </a:r>
            <a:r>
              <a:rPr lang="ru-RU" b="0" i="0" u="none" strike="noStrike" dirty="0">
                <a:effectLst/>
                <a:latin typeface="YS Text"/>
              </a:rPr>
              <a:t>файлов, которые лежат в одной папке.</a:t>
            </a:r>
            <a:endParaRPr lang="ru-RU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9DB8C4-5A8E-9430-913D-7B73CC26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540" y="1474461"/>
            <a:ext cx="7010400" cy="2552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432839-E30C-9814-F3BC-B5ADB76B433F}"/>
              </a:ext>
            </a:extLst>
          </p:cNvPr>
          <p:cNvSpPr txBox="1"/>
          <p:nvPr/>
        </p:nvSpPr>
        <p:spPr>
          <a:xfrm>
            <a:off x="533400" y="4230588"/>
            <a:ext cx="112884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Каждая строка таблицы в БД — это отдельная запись о каком-то объекте. </a:t>
            </a:r>
            <a:endParaRPr lang="en-US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 полях записи (в ячейках) могут храниться различные характеристики этого объекта. Каждый столбец таблицы должен иметь уникальное имя.</a:t>
            </a: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Таблица — это набор данных. </a:t>
            </a:r>
            <a:endParaRPr lang="en-US" b="0" i="0" u="none" strike="noStrike" dirty="0">
              <a:effectLst/>
              <a:latin typeface="YS Text"/>
            </a:endParaRP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Поэтому таблицам, как правило, дают названия во множественном числе, например — «заказы» (</a:t>
            </a:r>
            <a:r>
              <a:rPr lang="en" b="0" i="0" u="none" strike="noStrike" dirty="0">
                <a:effectLst/>
                <a:latin typeface="YS Text"/>
              </a:rPr>
              <a:t>orders), «</a:t>
            </a:r>
            <a:r>
              <a:rPr lang="ru-RU" b="0" i="0" u="none" strike="noStrike" dirty="0">
                <a:effectLst/>
                <a:latin typeface="YS Text"/>
              </a:rPr>
              <a:t>фильмы» (</a:t>
            </a:r>
            <a:r>
              <a:rPr lang="en" b="0" i="0" u="none" strike="noStrike" dirty="0">
                <a:effectLst/>
                <a:latin typeface="YS Text"/>
              </a:rPr>
              <a:t>movies), «</a:t>
            </a:r>
            <a:r>
              <a:rPr lang="ru-RU" b="0" i="0" u="none" strike="noStrike" dirty="0">
                <a:effectLst/>
                <a:latin typeface="YS Text"/>
              </a:rPr>
              <a:t>авторы» (</a:t>
            </a:r>
            <a:r>
              <a:rPr lang="en" b="0" i="0" u="none" strike="noStrike" dirty="0">
                <a:effectLst/>
                <a:latin typeface="YS Text"/>
              </a:rPr>
              <a:t>authors). </a:t>
            </a:r>
            <a:r>
              <a:rPr lang="ru-RU" b="0" i="0" u="none" strike="noStrike" dirty="0">
                <a:effectLst/>
                <a:latin typeface="YS Text"/>
              </a:rPr>
              <a:t>Но это — не обязательное правило. </a:t>
            </a:r>
          </a:p>
        </p:txBody>
      </p:sp>
    </p:spTree>
    <p:extLst>
      <p:ext uri="{BB962C8B-B14F-4D97-AF65-F5344CB8AC3E}">
        <p14:creationId xmlns:p14="http://schemas.microsoft.com/office/powerpoint/2010/main" val="43849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1E98-CBBA-8936-C6F8-F69AD5C8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319C8-7DEE-0D27-FF53-5B9DDD04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Реляционные базы данных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22609389-ADB7-BAE1-C45A-0784A4C7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4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B1EAF44-C6F7-B139-8C70-460ED6686EDB}"/>
              </a:ext>
            </a:extLst>
          </p:cNvPr>
          <p:cNvSpPr/>
          <p:nvPr/>
        </p:nvSpPr>
        <p:spPr>
          <a:xfrm>
            <a:off x="754566" y="1773503"/>
            <a:ext cx="35779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Элементы таблицы в реляционных базах данных принято называть так:</a:t>
            </a:r>
            <a:endParaRPr lang="en-US" b="0" i="0" u="none" strike="noStrike" dirty="0">
              <a:effectLst/>
              <a:latin typeface="YS Text"/>
            </a:endParaRPr>
          </a:p>
          <a:p>
            <a:pPr algn="l">
              <a:buNone/>
            </a:pPr>
            <a:endParaRPr lang="ru-RU" b="0" i="0" u="none" strike="noStrike" dirty="0">
              <a:effectLst/>
              <a:latin typeface="YS Tex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effectLst/>
                <a:latin typeface="YS Text"/>
              </a:rPr>
              <a:t>Запись (строка)</a:t>
            </a:r>
            <a:r>
              <a:rPr lang="ru-RU" b="0" i="0" u="none" strike="noStrike" dirty="0">
                <a:effectLst/>
                <a:latin typeface="YS Text"/>
              </a:rPr>
              <a:t> — это строка в таблице</a:t>
            </a:r>
            <a:endParaRPr lang="en-US" b="0" i="0" u="none" strike="noStrike" dirty="0">
              <a:effectLst/>
              <a:latin typeface="YS Tex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effectLst/>
                <a:latin typeface="YS Text"/>
              </a:rPr>
              <a:t>Поле (столбец, колонка)</a:t>
            </a:r>
            <a:r>
              <a:rPr lang="ru-RU" b="0" i="0" u="none" strike="noStrike" dirty="0">
                <a:effectLst/>
                <a:latin typeface="YS Text"/>
              </a:rPr>
              <a:t> — это столбец таблицы или ячейка одной записи.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FD258D-7C1A-4732-19EF-90F36F20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34" y="1773503"/>
            <a:ext cx="68326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45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F329-73A8-4E6C-A690-BA14B68D2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C9490-EF76-7CFE-3AA0-5052736E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" b="1" i="0" u="none" strike="noStrike" dirty="0">
                <a:effectLst/>
                <a:latin typeface="YS Text"/>
              </a:rPr>
              <a:t>SQL: </a:t>
            </a:r>
            <a:r>
              <a:rPr lang="ru-RU" b="1" i="0" u="none" strike="noStrike" dirty="0">
                <a:effectLst/>
                <a:latin typeface="YS Text"/>
              </a:rPr>
              <a:t>язык структурированных запросов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838877DC-612C-12CE-37BC-B4FC4FA2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5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7C75866-7C3E-90B5-DE16-3C7A01F68725}"/>
              </a:ext>
            </a:extLst>
          </p:cNvPr>
          <p:cNvSpPr/>
          <p:nvPr/>
        </p:nvSpPr>
        <p:spPr>
          <a:xfrm>
            <a:off x="590060" y="1773503"/>
            <a:ext cx="37424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Основной инструмент для работы с реляционными базами данных — специальный язык запросов: </a:t>
            </a:r>
            <a:r>
              <a:rPr lang="en" b="1" i="0" u="none" strike="noStrike" dirty="0">
                <a:effectLst/>
                <a:latin typeface="YS Text"/>
              </a:rPr>
              <a:t>Structured Query Language</a:t>
            </a:r>
            <a:r>
              <a:rPr lang="en" b="0" i="0" u="none" strike="noStrike" dirty="0">
                <a:effectLst/>
                <a:latin typeface="YS Text"/>
              </a:rPr>
              <a:t>, </a:t>
            </a:r>
            <a:r>
              <a:rPr lang="en" b="1" i="0" u="none" strike="noStrike" dirty="0">
                <a:effectLst/>
                <a:latin typeface="YS Text"/>
              </a:rPr>
              <a:t>SQL.</a:t>
            </a:r>
            <a:endParaRPr lang="ru-RU" b="0" i="0" u="none" strike="noStrike" dirty="0">
              <a:effectLst/>
              <a:latin typeface="YS Tex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87D619-3328-3002-FCF9-86213A488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740" y="1447800"/>
            <a:ext cx="7061200" cy="3962400"/>
          </a:xfrm>
          <a:prstGeom prst="rect">
            <a:avLst/>
          </a:prstGeom>
        </p:spPr>
      </p:pic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67962218-4FA5-E0FF-A040-6B6BDC0A219B}"/>
              </a:ext>
            </a:extLst>
          </p:cNvPr>
          <p:cNvSpPr/>
          <p:nvPr/>
        </p:nvSpPr>
        <p:spPr>
          <a:xfrm>
            <a:off x="264405" y="4285561"/>
            <a:ext cx="661012" cy="20707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AE3C9-C948-BB75-D893-BF5B9A75CF65}"/>
              </a:ext>
            </a:extLst>
          </p:cNvPr>
          <p:cNvSpPr txBox="1"/>
          <p:nvPr/>
        </p:nvSpPr>
        <p:spPr>
          <a:xfrm>
            <a:off x="801171" y="4843901"/>
            <a:ext cx="29445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dirty="0">
                <a:effectLst/>
                <a:latin typeface="spectral"/>
              </a:rPr>
              <a:t>SQL </a:t>
            </a:r>
            <a:r>
              <a:rPr lang="ru-RU" sz="2800" b="0" i="0" u="none" strike="noStrike" dirty="0">
                <a:effectLst/>
                <a:latin typeface="spectral"/>
              </a:rPr>
              <a:t>произносится «эс-кью-эл»</a:t>
            </a:r>
            <a:endParaRPr lang="ru-RU" sz="2800" dirty="0"/>
          </a:p>
        </p:txBody>
      </p:sp>
      <p:sp>
        <p:nvSpPr>
          <p:cNvPr id="9" name="Закрывающая фигурная скобка 8">
            <a:extLst>
              <a:ext uri="{FF2B5EF4-FFF2-40B4-BE49-F238E27FC236}">
                <a16:creationId xmlns:a16="http://schemas.microsoft.com/office/drawing/2014/main" id="{1609A80B-3D9F-5A95-FC2C-A45821813EE4}"/>
              </a:ext>
            </a:extLst>
          </p:cNvPr>
          <p:cNvSpPr/>
          <p:nvPr/>
        </p:nvSpPr>
        <p:spPr>
          <a:xfrm>
            <a:off x="3383273" y="4186410"/>
            <a:ext cx="949241" cy="21699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AD73-B30D-EA70-6D17-57637794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CB03E-DB30-7337-8EC7-0F5803CA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" b="1" i="0" u="none" strike="noStrike" dirty="0">
                <a:effectLst/>
                <a:latin typeface="YS Text"/>
              </a:rPr>
              <a:t>SQL: </a:t>
            </a:r>
            <a:r>
              <a:rPr lang="ru-RU" b="1" i="0" u="none" strike="noStrike" dirty="0">
                <a:effectLst/>
                <a:latin typeface="YS Text"/>
              </a:rPr>
              <a:t>язык структурированных запросов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6A9E884F-DAC6-80AD-7EB1-C8F17267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6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452F8C-4086-61DC-A266-0B6C69CDD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0" y="1468457"/>
            <a:ext cx="5689600" cy="464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60F924-9A50-199D-F4FA-56061D20164A}"/>
              </a:ext>
            </a:extLst>
          </p:cNvPr>
          <p:cNvSpPr txBox="1"/>
          <p:nvPr/>
        </p:nvSpPr>
        <p:spPr>
          <a:xfrm>
            <a:off x="473726" y="1746114"/>
            <a:ext cx="49135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-- Верни названия (значения поля 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title) </a:t>
            </a:r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тех фильмов из таблицы </a:t>
            </a:r>
            <a:r>
              <a:rPr lang="en" dirty="0" err="1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video_products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, </a:t>
            </a:r>
          </a:p>
          <a:p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-- </a:t>
            </a:r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у которых в поле </a:t>
            </a:r>
            <a:r>
              <a:rPr lang="en" dirty="0" err="1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product_type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записано «Фильм», а дата выпуска — ранее 1990 года</a:t>
            </a:r>
          </a:p>
          <a:p>
            <a:b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</a:br>
            <a:b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</a:b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SELECT title </a:t>
            </a:r>
            <a:b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</a:b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FROM </a:t>
            </a:r>
            <a:r>
              <a:rPr lang="en" dirty="0" err="1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video_products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 </a:t>
            </a:r>
            <a:b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</a:b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WHERE </a:t>
            </a:r>
            <a:r>
              <a:rPr lang="en" dirty="0" err="1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product_type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 = '</a:t>
            </a:r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Фильм' 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AND </a:t>
            </a:r>
            <a:r>
              <a:rPr lang="en" dirty="0" err="1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release_year</a:t>
            </a:r>
            <a:r>
              <a:rPr lang="en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 &lt; 1990;</a:t>
            </a:r>
          </a:p>
          <a:p>
            <a:endParaRPr lang="en" dirty="0">
              <a:latin typeface="Times New Roman" panose="02020603050405020304" pitchFamily="18" charset="0"/>
              <a:ea typeface="BM HANNA 11yrs old OTF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Ответ</a:t>
            </a:r>
            <a:b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ea typeface="BM HANNA 11yrs old OTF" panose="020B0600000101010101" pitchFamily="34" charset="-127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Кто подставил кролика Роджера</a:t>
            </a:r>
          </a:p>
          <a:p>
            <a:r>
              <a:rPr lang="ru-RU" dirty="0">
                <a:latin typeface="Times New Roman" panose="02020603050405020304" pitchFamily="18" charset="0"/>
                <a:ea typeface="BM HANNA 11yrs old OTF" panose="020B0600000101010101" pitchFamily="34" charset="-127"/>
                <a:cs typeface="Times New Roman" panose="02020603050405020304" pitchFamily="18" charset="0"/>
              </a:rPr>
              <a:t>Хороший, плохой, злой</a:t>
            </a:r>
          </a:p>
        </p:txBody>
      </p:sp>
    </p:spTree>
    <p:extLst>
      <p:ext uri="{BB962C8B-B14F-4D97-AF65-F5344CB8AC3E}">
        <p14:creationId xmlns:p14="http://schemas.microsoft.com/office/powerpoint/2010/main" val="37889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02CF-5185-1B9C-42E5-87F6EDD3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88A06-444F-49C1-ECD9-055443DDB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Отношения между таблицами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3D003F84-C453-3AE6-61D2-D69C3CF5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7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8A4E0-DA21-13BF-5918-EB9FEBCF1398}"/>
              </a:ext>
            </a:extLst>
          </p:cNvPr>
          <p:cNvSpPr txBox="1"/>
          <p:nvPr/>
        </p:nvSpPr>
        <p:spPr>
          <a:xfrm>
            <a:off x="473726" y="1746114"/>
            <a:ext cx="47447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 реляционных базах данных может быть три типа связей: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Один к одному (1:1 или </a:t>
            </a:r>
            <a:r>
              <a:rPr lang="en" b="0" i="1" u="none" strike="noStrike" dirty="0">
                <a:effectLst/>
                <a:latin typeface="YS Text"/>
              </a:rPr>
              <a:t>one-to-one</a:t>
            </a:r>
            <a:r>
              <a:rPr lang="en" b="0" i="0" u="none" strike="noStrike" dirty="0">
                <a:effectLst/>
                <a:latin typeface="YS Text"/>
              </a:rPr>
              <a:t>): </a:t>
            </a:r>
            <a:r>
              <a:rPr lang="ru-RU" b="0" i="0" u="none" strike="noStrike" dirty="0">
                <a:effectLst/>
                <a:latin typeface="YS Text"/>
              </a:rPr>
              <a:t>фильм → оригинальное название.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Многие к одному (</a:t>
            </a:r>
            <a:r>
              <a:rPr lang="en" b="0" i="0" u="none" strike="noStrike" dirty="0">
                <a:effectLst/>
                <a:latin typeface="YS Text"/>
              </a:rPr>
              <a:t>M:1 </a:t>
            </a:r>
            <a:r>
              <a:rPr lang="ru-RU" b="0" i="0" u="none" strike="noStrike" dirty="0">
                <a:effectLst/>
                <a:latin typeface="YS Text"/>
              </a:rPr>
              <a:t>или </a:t>
            </a:r>
            <a:r>
              <a:rPr lang="en" b="0" i="1" u="none" strike="noStrike" dirty="0">
                <a:effectLst/>
                <a:latin typeface="YS Text"/>
              </a:rPr>
              <a:t>many-to-one</a:t>
            </a:r>
            <a:r>
              <a:rPr lang="en" b="0" i="0" u="none" strike="noStrike" dirty="0">
                <a:effectLst/>
                <a:latin typeface="YS Text"/>
              </a:rPr>
              <a:t>): </a:t>
            </a:r>
            <a:r>
              <a:rPr lang="ru-RU" b="0" i="0" u="none" strike="noStrike" dirty="0">
                <a:effectLst/>
                <a:latin typeface="YS Text"/>
              </a:rPr>
              <a:t>фильмы → тип.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Многие ко многим (</a:t>
            </a:r>
            <a:r>
              <a:rPr lang="en" b="0" i="0" u="none" strike="noStrike" dirty="0">
                <a:effectLst/>
                <a:latin typeface="YS Text"/>
              </a:rPr>
              <a:t>N:M </a:t>
            </a:r>
            <a:r>
              <a:rPr lang="ru-RU" b="0" i="0" u="none" strike="noStrike" dirty="0">
                <a:effectLst/>
                <a:latin typeface="YS Text"/>
              </a:rPr>
              <a:t>или </a:t>
            </a:r>
            <a:r>
              <a:rPr lang="en" b="0" i="1" u="none" strike="noStrike" dirty="0">
                <a:effectLst/>
                <a:latin typeface="YS Text"/>
              </a:rPr>
              <a:t>many-to-many</a:t>
            </a:r>
            <a:r>
              <a:rPr lang="en" b="0" i="0" u="none" strike="noStrike" dirty="0">
                <a:effectLst/>
                <a:latin typeface="YS Text"/>
              </a:rPr>
              <a:t>): </a:t>
            </a:r>
            <a:r>
              <a:rPr lang="ru-RU" b="0" i="0" u="none" strike="noStrike" dirty="0">
                <a:effectLst/>
                <a:latin typeface="YS Text"/>
              </a:rPr>
              <a:t>фильмы → режиссёры.</a:t>
            </a:r>
          </a:p>
          <a:p>
            <a:pPr>
              <a:buNone/>
            </a:pPr>
            <a:br>
              <a:rPr lang="ru-RU" dirty="0"/>
            </a:br>
            <a:endParaRPr lang="ru-RU" dirty="0">
              <a:latin typeface="Times New Roman" panose="02020603050405020304" pitchFamily="18" charset="0"/>
              <a:ea typeface="BM HANNA 11yrs old OTF" panose="020B0600000101010101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C8792E-44DF-D470-DDD9-35838ADF4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037" y="1289375"/>
            <a:ext cx="5264160" cy="52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6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1246-ED52-6076-5909-5CCF9DFC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1F825-AEA8-82FD-D10A-5D3F62E6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Отношения «один к одному»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6F5B4003-C41D-5B7B-96B7-35872CF9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8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ED147-D6F8-7697-9834-2C9678DA2141}"/>
              </a:ext>
            </a:extLst>
          </p:cNvPr>
          <p:cNvSpPr txBox="1"/>
          <p:nvPr/>
        </p:nvSpPr>
        <p:spPr>
          <a:xfrm>
            <a:off x="338145" y="4094192"/>
            <a:ext cx="84202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Создадим новую БД с двумя таблицами — </a:t>
            </a:r>
            <a:r>
              <a:rPr lang="en" b="1" i="0" u="none" strike="noStrike" dirty="0" err="1">
                <a:effectLst/>
                <a:latin typeface="YS Text"/>
              </a:rPr>
              <a:t>video_products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и </a:t>
            </a:r>
            <a:r>
              <a:rPr lang="en" b="1" i="0" u="none" strike="noStrike" dirty="0" err="1">
                <a:effectLst/>
                <a:latin typeface="YS Text"/>
              </a:rPr>
              <a:t>original_titles</a:t>
            </a:r>
            <a:r>
              <a:rPr lang="en" b="0" i="0" u="none" strike="noStrike" dirty="0">
                <a:effectLst/>
                <a:latin typeface="YS Text"/>
              </a:rPr>
              <a:t>. 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 таблице </a:t>
            </a:r>
            <a:r>
              <a:rPr lang="en" b="1" i="0" u="none" strike="noStrike" dirty="0" err="1">
                <a:effectLst/>
                <a:latin typeface="YS Text"/>
              </a:rPr>
              <a:t>video_products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создадим три поля: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effectLst/>
                <a:latin typeface="YS Text"/>
              </a:rPr>
              <a:t>id — primary key;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effectLst/>
                <a:latin typeface="YS Text"/>
              </a:rPr>
              <a:t>title — </a:t>
            </a:r>
            <a:r>
              <a:rPr lang="ru-RU" b="0" i="0" u="none" strike="noStrike" dirty="0">
                <a:effectLst/>
                <a:latin typeface="YS Text"/>
              </a:rPr>
              <a:t>название произведения (обязательное поле);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original_title_id</a:t>
            </a:r>
            <a:r>
              <a:rPr lang="en" b="0" i="0" u="none" strike="noStrike" dirty="0">
                <a:effectLst/>
                <a:latin typeface="YS Text"/>
              </a:rPr>
              <a:t> — foreign key; </a:t>
            </a:r>
            <a:r>
              <a:rPr lang="ru-RU" b="0" i="0" u="none" strike="noStrike" dirty="0">
                <a:effectLst/>
                <a:latin typeface="YS Text"/>
              </a:rPr>
              <a:t>через это поле таблица </a:t>
            </a:r>
            <a:r>
              <a:rPr lang="en" b="1" i="0" u="none" strike="noStrike" dirty="0" err="1">
                <a:effectLst/>
                <a:latin typeface="YS Text"/>
              </a:rPr>
              <a:t>video_products</a:t>
            </a:r>
            <a:r>
              <a:rPr lang="ru-RU" b="0" i="0" u="none" strike="noStrike" dirty="0">
                <a:effectLst/>
                <a:latin typeface="YS Text"/>
              </a:rPr>
              <a:t>будет связана с таблицей </a:t>
            </a:r>
            <a:r>
              <a:rPr lang="en" b="1" i="0" u="none" strike="noStrike" dirty="0" err="1">
                <a:effectLst/>
                <a:latin typeface="YS Text"/>
              </a:rPr>
              <a:t>original_titles</a:t>
            </a:r>
            <a:r>
              <a:rPr lang="en" b="0" i="0" u="none" strike="noStrike" dirty="0">
                <a:effectLst/>
                <a:latin typeface="YS Text"/>
              </a:rPr>
              <a:t>. </a:t>
            </a:r>
            <a:r>
              <a:rPr lang="ru-RU" b="0" i="0" u="none" strike="noStrike" dirty="0">
                <a:effectLst/>
                <a:latin typeface="YS Text"/>
              </a:rPr>
              <a:t>Это поле тоже сделаем обязательным: будем считать, что у любого произведения есть оригинальное название.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180EAB-8C26-D4BE-FDCA-4AFCAFD26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26" y="1379632"/>
            <a:ext cx="7344872" cy="24762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D48C5F-E410-E406-EC56-2EE440B98BAA}"/>
              </a:ext>
            </a:extLst>
          </p:cNvPr>
          <p:cNvSpPr txBox="1"/>
          <p:nvPr/>
        </p:nvSpPr>
        <p:spPr>
          <a:xfrm>
            <a:off x="7818598" y="1695752"/>
            <a:ext cx="43734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 таблице </a:t>
            </a:r>
            <a:r>
              <a:rPr lang="en" b="1" i="0" u="none" strike="noStrike" dirty="0" err="1">
                <a:effectLst/>
                <a:latin typeface="YS Text"/>
              </a:rPr>
              <a:t>original_titles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будет два поля: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effectLst/>
                <a:latin typeface="YS Text"/>
              </a:rPr>
              <a:t>id — primary key;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effectLst/>
                <a:latin typeface="YS Text"/>
              </a:rPr>
              <a:t>title — </a:t>
            </a:r>
            <a:r>
              <a:rPr lang="ru-RU" b="0" i="0" u="none" strike="noStrike" dirty="0">
                <a:effectLst/>
                <a:latin typeface="YS Text"/>
              </a:rPr>
              <a:t>оригинальное название произведения (обязательное поле);</a:t>
            </a:r>
          </a:p>
        </p:txBody>
      </p:sp>
    </p:spTree>
    <p:extLst>
      <p:ext uri="{BB962C8B-B14F-4D97-AF65-F5344CB8AC3E}">
        <p14:creationId xmlns:p14="http://schemas.microsoft.com/office/powerpoint/2010/main" val="1365759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9B89-EAF7-8117-7F19-52C2D5F8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93758-610C-3F3B-78C3-BCC51ABB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Отношения «многие к одному»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1358023D-2898-D171-1FCE-4C1D5B2F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9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26652-9B76-71B7-880E-A43B9F5FA2EC}"/>
              </a:ext>
            </a:extLst>
          </p:cNvPr>
          <p:cNvSpPr txBox="1"/>
          <p:nvPr/>
        </p:nvSpPr>
        <p:spPr>
          <a:xfrm>
            <a:off x="8963140" y="1697972"/>
            <a:ext cx="23906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 нашей фильмотеке каждое произведение может относиться к одному из типов: мультфильм, фильм, сериал или мультсериал.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5E76CA-14CF-E622-2B49-3614F94CD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7" y="1595408"/>
            <a:ext cx="7884190" cy="2822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1CB1D5-D6C7-040E-6445-E443F2A0B266}"/>
              </a:ext>
            </a:extLst>
          </p:cNvPr>
          <p:cNvSpPr txBox="1"/>
          <p:nvPr/>
        </p:nvSpPr>
        <p:spPr>
          <a:xfrm>
            <a:off x="838199" y="4731265"/>
            <a:ext cx="96388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Перечень типов сохраним в таблице </a:t>
            </a:r>
            <a:r>
              <a:rPr lang="en" b="1" i="0" u="none" strike="noStrike" dirty="0" err="1">
                <a:effectLst/>
                <a:latin typeface="YS Text"/>
              </a:rPr>
              <a:t>product_types</a:t>
            </a:r>
            <a:r>
              <a:rPr lang="en" b="0" i="0" u="none" strike="noStrike" dirty="0">
                <a:effectLst/>
                <a:latin typeface="YS Text"/>
              </a:rPr>
              <a:t>; </a:t>
            </a:r>
            <a:r>
              <a:rPr lang="ru-RU" b="0" i="0" u="none" strike="noStrike" dirty="0">
                <a:effectLst/>
                <a:latin typeface="YS Text"/>
              </a:rPr>
              <a:t>к этой таблице должна «тянуться» связь от </a:t>
            </a:r>
            <a:r>
              <a:rPr lang="en" b="1" i="0" u="none" strike="noStrike" dirty="0" err="1">
                <a:effectLst/>
                <a:latin typeface="YS Text"/>
              </a:rPr>
              <a:t>video_products</a:t>
            </a:r>
            <a:r>
              <a:rPr lang="en" b="0" i="0" u="none" strike="noStrike" dirty="0">
                <a:effectLst/>
                <a:latin typeface="YS Text"/>
              </a:rPr>
              <a:t>. 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Не будем перегружать таблицу </a:t>
            </a:r>
            <a:r>
              <a:rPr lang="en" b="1" i="0" u="none" strike="noStrike" dirty="0" err="1">
                <a:effectLst/>
                <a:latin typeface="YS Text"/>
              </a:rPr>
              <a:t>video_products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лишними полями: забудем на время про поле </a:t>
            </a:r>
            <a:r>
              <a:rPr lang="en" b="0" i="0" u="none" strike="noStrike" dirty="0" err="1">
                <a:effectLst/>
                <a:latin typeface="YS Text"/>
              </a:rPr>
              <a:t>original_title_id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и сосредоточимся на связи с </a:t>
            </a:r>
            <a:r>
              <a:rPr lang="en" b="1" i="0" u="none" strike="noStrike" dirty="0" err="1">
                <a:effectLst/>
                <a:latin typeface="YS Text"/>
              </a:rPr>
              <a:t>product_types</a:t>
            </a:r>
            <a:r>
              <a:rPr lang="en" b="0" i="0" u="none" strike="noStrike" dirty="0">
                <a:effectLst/>
                <a:latin typeface="YS Text"/>
              </a:rPr>
              <a:t>.</a:t>
            </a: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В таблице </a:t>
            </a:r>
            <a:r>
              <a:rPr lang="en" b="1" i="0" u="none" strike="noStrike" dirty="0" err="1">
                <a:effectLst/>
                <a:latin typeface="YS Text"/>
              </a:rPr>
              <a:t>video_products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создадим </a:t>
            </a:r>
            <a:r>
              <a:rPr lang="en" b="0" i="0" u="none" strike="noStrike" dirty="0">
                <a:effectLst/>
                <a:latin typeface="YS Text"/>
              </a:rPr>
              <a:t>FK-</a:t>
            </a:r>
            <a:r>
              <a:rPr lang="ru-RU" b="0" i="0" u="none" strike="noStrike" dirty="0">
                <a:effectLst/>
                <a:latin typeface="YS Text"/>
              </a:rPr>
              <a:t>поле </a:t>
            </a:r>
            <a:r>
              <a:rPr lang="en" b="0" i="0" u="none" strike="noStrike" dirty="0" err="1">
                <a:effectLst/>
                <a:latin typeface="YS Text"/>
              </a:rPr>
              <a:t>type_id</a:t>
            </a:r>
            <a:r>
              <a:rPr lang="en" b="0" i="0" u="none" strike="noStrike" dirty="0">
                <a:effectLst/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32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4ADB-7CF5-0FD9-A45C-2E08E242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02852-3CAF-3678-D220-9640F1BC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ru-RU" b="1" i="0" u="none" strike="noStrike" dirty="0">
                <a:effectLst/>
                <a:latin typeface="YS Text"/>
              </a:rPr>
              <a:t>Отношения между таблицами. Многие ко многим</a:t>
            </a:r>
            <a:br>
              <a:rPr lang="ru-RU" dirty="0"/>
            </a:br>
            <a:endParaRPr lang="ru-RU" b="1" i="0" u="none" strike="noStrike" dirty="0">
              <a:effectLst/>
              <a:latin typeface="YS Text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1A75593-EBEF-8998-C2A9-0C2FF269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10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7EC5F-8C39-1340-FCCC-A69DD1F8F04E}"/>
              </a:ext>
            </a:extLst>
          </p:cNvPr>
          <p:cNvSpPr txBox="1"/>
          <p:nvPr/>
        </p:nvSpPr>
        <p:spPr>
          <a:xfrm>
            <a:off x="8284684" y="1665032"/>
            <a:ext cx="3157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У каждой картины есть автор. Но если в живописи два автора одной картины — это редкость, то несколько режиссёров одного фильма — это обычное дело.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3E390-1770-FEB5-4997-0A453E2924D5}"/>
              </a:ext>
            </a:extLst>
          </p:cNvPr>
          <p:cNvSpPr txBox="1"/>
          <p:nvPr/>
        </p:nvSpPr>
        <p:spPr>
          <a:xfrm>
            <a:off x="838199" y="4731265"/>
            <a:ext cx="96388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опишем условия: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  У фильма может быть один или несколько режиссёров.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effectLst/>
                <a:latin typeface="YS Text"/>
              </a:rPr>
              <a:t>  Режиссёр может снять один или несколько фильмов.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A25F44-E52E-18B1-D298-61F181BDC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0" y="1493439"/>
            <a:ext cx="7332378" cy="273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4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Описание таблиц с помощью классов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11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484260" y="1391415"/>
            <a:ext cx="402163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 </a:t>
            </a:r>
            <a:r>
              <a:rPr lang="en" b="0" i="0" u="none" strike="noStrike" dirty="0">
                <a:effectLst/>
                <a:latin typeface="YS Text"/>
              </a:rPr>
              <a:t>Django </a:t>
            </a:r>
            <a:r>
              <a:rPr lang="ru-RU" b="0" i="0" u="none" strike="noStrike" dirty="0">
                <a:effectLst/>
                <a:latin typeface="YS Text"/>
              </a:rPr>
              <a:t>запросы к БД составляются не на </a:t>
            </a:r>
            <a:r>
              <a:rPr lang="en" b="0" i="0" u="none" strike="noStrike" dirty="0">
                <a:effectLst/>
                <a:latin typeface="YS Text"/>
              </a:rPr>
              <a:t>SQL, </a:t>
            </a:r>
            <a:r>
              <a:rPr lang="ru-RU" b="0" i="0" u="none" strike="noStrike" dirty="0">
                <a:effectLst/>
                <a:latin typeface="YS Text"/>
              </a:rPr>
              <a:t>а на </a:t>
            </a:r>
            <a:r>
              <a:rPr lang="en" b="0" i="0" u="none" strike="noStrike" dirty="0">
                <a:effectLst/>
                <a:latin typeface="YS Text"/>
              </a:rPr>
              <a:t>Python.</a:t>
            </a:r>
            <a:endParaRPr lang="ru-RU" b="0" i="0" u="none" strike="noStrike" dirty="0">
              <a:effectLst/>
              <a:latin typeface="YS Text"/>
            </a:endParaRPr>
          </a:p>
          <a:p>
            <a:pPr algn="l">
              <a:buNone/>
            </a:pPr>
            <a:endParaRPr lang="ru-RU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На этом этапе в работу включается </a:t>
            </a:r>
            <a:r>
              <a:rPr lang="en" b="1" i="0" u="none" strike="noStrike" dirty="0">
                <a:effectLst/>
                <a:latin typeface="YS Text"/>
              </a:rPr>
              <a:t>Django ORM</a:t>
            </a:r>
            <a:r>
              <a:rPr lang="en" b="0" i="0" u="none" strike="noStrike" dirty="0">
                <a:effectLst/>
                <a:latin typeface="YS Text"/>
              </a:rPr>
              <a:t> (</a:t>
            </a:r>
            <a:r>
              <a:rPr lang="ru-RU" b="0" i="0" u="none" strike="noStrike" dirty="0">
                <a:effectLst/>
                <a:latin typeface="YS Text"/>
              </a:rPr>
              <a:t>англ. </a:t>
            </a:r>
            <a:r>
              <a:rPr lang="en" b="1" i="0" u="none" strike="noStrike" dirty="0">
                <a:effectLst/>
                <a:latin typeface="YS Text"/>
              </a:rPr>
              <a:t>O</a:t>
            </a:r>
            <a:r>
              <a:rPr lang="en" b="0" i="0" u="none" strike="noStrike" dirty="0">
                <a:effectLst/>
                <a:latin typeface="YS Text"/>
              </a:rPr>
              <a:t>bject-</a:t>
            </a:r>
            <a:r>
              <a:rPr lang="en" b="1" i="0" u="none" strike="noStrike" dirty="0">
                <a:effectLst/>
                <a:latin typeface="YS Text"/>
              </a:rPr>
              <a:t>R</a:t>
            </a:r>
            <a:r>
              <a:rPr lang="en" b="0" i="0" u="none" strike="noStrike" dirty="0">
                <a:effectLst/>
                <a:latin typeface="YS Text"/>
              </a:rPr>
              <a:t>elational </a:t>
            </a:r>
            <a:r>
              <a:rPr lang="en" b="1" i="0" u="none" strike="noStrike" dirty="0">
                <a:effectLst/>
                <a:latin typeface="YS Text"/>
              </a:rPr>
              <a:t>M</a:t>
            </a:r>
            <a:r>
              <a:rPr lang="en" b="0" i="0" u="none" strike="noStrike" dirty="0">
                <a:effectLst/>
                <a:latin typeface="YS Text"/>
              </a:rPr>
              <a:t>apping, «</a:t>
            </a:r>
            <a:r>
              <a:rPr lang="ru-RU" b="0" i="0" u="none" strike="noStrike" dirty="0">
                <a:effectLst/>
                <a:latin typeface="YS Text"/>
              </a:rPr>
              <a:t>Объектно-реляционное отображение» или преобразование) — часть фреймворка, которая «переводит» запросы с </a:t>
            </a:r>
            <a:r>
              <a:rPr lang="en" b="0" i="0" u="none" strike="noStrike" dirty="0">
                <a:effectLst/>
                <a:latin typeface="YS Text"/>
              </a:rPr>
              <a:t>Python </a:t>
            </a:r>
            <a:r>
              <a:rPr lang="ru-RU" b="0" i="0" u="none" strike="noStrike" dirty="0">
                <a:effectLst/>
                <a:latin typeface="YS Text"/>
              </a:rPr>
              <a:t>на </a:t>
            </a:r>
            <a:r>
              <a:rPr lang="en" b="0" i="0" u="none" strike="noStrike" dirty="0">
                <a:effectLst/>
                <a:latin typeface="YS Text"/>
              </a:rPr>
              <a:t>SQL </a:t>
            </a:r>
            <a:r>
              <a:rPr lang="ru-RU" b="0" i="0" u="none" strike="noStrike" dirty="0">
                <a:effectLst/>
                <a:latin typeface="YS Text"/>
              </a:rPr>
              <a:t>и обратно. </a:t>
            </a:r>
          </a:p>
          <a:p>
            <a:pPr algn="l">
              <a:buNone/>
            </a:pPr>
            <a:endParaRPr lang="ru-RU" b="0" i="0" u="none" strike="noStrike" dirty="0">
              <a:effectLst/>
              <a:latin typeface="YS Text"/>
            </a:endParaRP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Таблицы в базе данных, отношения между ними, запросы к базе — всё это описывается с помощью классов и методов </a:t>
            </a:r>
            <a:r>
              <a:rPr lang="en" b="0" i="0" u="none" strike="noStrike" dirty="0">
                <a:effectLst/>
                <a:latin typeface="YS Text"/>
              </a:rPr>
              <a:t>Python, </a:t>
            </a:r>
            <a:r>
              <a:rPr lang="ru-RU" b="0" i="0" u="none" strike="noStrike" dirty="0">
                <a:effectLst/>
                <a:latin typeface="YS Text"/>
              </a:rPr>
              <a:t>а </a:t>
            </a:r>
            <a:r>
              <a:rPr lang="en" b="0" i="0" u="none" strike="noStrike" dirty="0">
                <a:effectLst/>
                <a:latin typeface="YS Text"/>
              </a:rPr>
              <a:t>ORM </a:t>
            </a:r>
            <a:r>
              <a:rPr lang="ru-RU" b="0" i="0" u="none" strike="noStrike" dirty="0">
                <a:effectLst/>
                <a:latin typeface="YS Text"/>
              </a:rPr>
              <a:t>превращает </a:t>
            </a:r>
            <a:r>
              <a:rPr lang="en" b="0" i="0" u="none" strike="noStrike" dirty="0">
                <a:effectLst/>
                <a:latin typeface="YS Text"/>
              </a:rPr>
              <a:t>python-</a:t>
            </a:r>
            <a:r>
              <a:rPr lang="ru-RU" b="0" i="0" u="none" strike="noStrike" dirty="0">
                <a:effectLst/>
                <a:latin typeface="YS Text"/>
              </a:rPr>
              <a:t>код в </a:t>
            </a:r>
            <a:r>
              <a:rPr lang="en" b="0" i="0" u="none" strike="noStrike" dirty="0">
                <a:effectLst/>
                <a:latin typeface="YS Text"/>
              </a:rPr>
              <a:t>SQL-</a:t>
            </a:r>
            <a:r>
              <a:rPr lang="ru-RU" b="0" i="0" u="none" strike="noStrike" dirty="0">
                <a:effectLst/>
                <a:latin typeface="YS Text"/>
              </a:rPr>
              <a:t>запросы.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D7CEC1-2874-421F-6FDF-9D428278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540" y="1391415"/>
            <a:ext cx="69342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90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97D7-281E-F8E2-F06C-58628CC0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936AF-D3E1-52BC-5FF2-58EB30AA6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60" y="372409"/>
            <a:ext cx="106214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Первый этап: подключение БД к </a:t>
            </a:r>
            <a:r>
              <a:rPr lang="en" b="1" i="0" u="none" strike="noStrike" dirty="0">
                <a:effectLst/>
                <a:latin typeface="YS Text"/>
              </a:rPr>
              <a:t>Django-</a:t>
            </a:r>
            <a:r>
              <a:rPr lang="ru-RU" b="1" i="0" u="none" strike="noStrike" dirty="0">
                <a:effectLst/>
                <a:latin typeface="YS Text"/>
              </a:rPr>
              <a:t>проекту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D149B6ED-7EF3-9373-619A-1765A305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EC3D3-89CC-5726-10AE-31F306B332CE}"/>
              </a:ext>
            </a:extLst>
          </p:cNvPr>
          <p:cNvSpPr txBox="1"/>
          <p:nvPr/>
        </p:nvSpPr>
        <p:spPr>
          <a:xfrm>
            <a:off x="636224" y="1885717"/>
            <a:ext cx="39798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u="none" strike="noStrike" dirty="0">
                <a:effectLst/>
                <a:latin typeface="YS Text"/>
              </a:rPr>
              <a:t>За подключение и настройку БД в проекте отвечает константа </a:t>
            </a:r>
            <a:r>
              <a:rPr lang="en" dirty="0">
                <a:effectLst/>
              </a:rPr>
              <a:t>DATABASES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в </a:t>
            </a:r>
            <a:r>
              <a:rPr lang="en" b="0" i="1" u="none" strike="noStrike" dirty="0" err="1">
                <a:effectLst/>
                <a:latin typeface="YS Text"/>
              </a:rPr>
              <a:t>settings.py</a:t>
            </a:r>
            <a:r>
              <a:rPr lang="en" b="0" i="0" u="none" strike="noStrike" dirty="0">
                <a:effectLst/>
                <a:latin typeface="YS Text"/>
              </a:rPr>
              <a:t>: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270655-0860-D7DE-BE69-6B969B777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662" y="1209805"/>
            <a:ext cx="5676900" cy="2463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912D03-909F-7968-B3B9-CE2302561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4" y="4144346"/>
            <a:ext cx="52832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65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CD16-F857-D14E-77DD-DD358F15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114DB-F90F-40B5-60FE-106B1E46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60" y="372409"/>
            <a:ext cx="106214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Типы полей в </a:t>
            </a:r>
            <a:r>
              <a:rPr lang="en" b="1" i="0" u="none" strike="noStrike" dirty="0">
                <a:effectLst/>
                <a:latin typeface="YS Text"/>
              </a:rPr>
              <a:t>Django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89BC280F-E3CB-2DB0-3738-41EF6376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13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FFDA5-6BA1-72BC-A9EA-8A7FE6C118C7}"/>
              </a:ext>
            </a:extLst>
          </p:cNvPr>
          <p:cNvSpPr txBox="1"/>
          <p:nvPr/>
        </p:nvSpPr>
        <p:spPr>
          <a:xfrm>
            <a:off x="484260" y="1697972"/>
            <a:ext cx="110747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При описании поля модели его тип указывается при помощи специальных классов. 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Вот несколько популярных типов (в скобках — название аналогичного типа в </a:t>
            </a:r>
            <a:r>
              <a:rPr lang="en" b="0" i="0" u="none" strike="noStrike" dirty="0">
                <a:effectLst/>
                <a:latin typeface="YS Text"/>
              </a:rPr>
              <a:t>SQL):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models.IntegerField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натуральное число (</a:t>
            </a:r>
            <a:r>
              <a:rPr lang="en" b="0" i="0" u="none" strike="noStrike" dirty="0">
                <a:effectLst/>
                <a:latin typeface="YS Text"/>
              </a:rPr>
              <a:t>INTEGER);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models.FloatField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число с плавающей точкой (</a:t>
            </a:r>
            <a:r>
              <a:rPr lang="en" b="0" i="0" u="none" strike="noStrike" dirty="0">
                <a:effectLst/>
                <a:latin typeface="YS Text"/>
              </a:rPr>
              <a:t>REAL);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models.BooleanField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булев тип </a:t>
            </a:r>
            <a:r>
              <a:rPr lang="en" b="0" i="0" u="none" strike="noStrike" dirty="0">
                <a:effectLst/>
                <a:latin typeface="YS Text"/>
              </a:rPr>
              <a:t>False/True (BOOL);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models.CharField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строка (текстовое поле с ограничением по числу символов) (</a:t>
            </a:r>
            <a:r>
              <a:rPr lang="en" b="0" i="0" u="none" strike="noStrike" dirty="0">
                <a:effectLst/>
                <a:latin typeface="YS Text"/>
              </a:rPr>
              <a:t>VARCHAR);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models.TextField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текстовое поле (</a:t>
            </a:r>
            <a:r>
              <a:rPr lang="en" b="0" i="0" u="none" strike="noStrike" dirty="0">
                <a:effectLst/>
                <a:latin typeface="YS Text"/>
              </a:rPr>
              <a:t>TEXT);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models.DateField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дата, как </a:t>
            </a:r>
            <a:r>
              <a:rPr lang="en" b="0" i="0" u="none" strike="noStrike" dirty="0" err="1">
                <a:effectLst/>
                <a:latin typeface="YS Text"/>
              </a:rPr>
              <a:t>datetime.date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в </a:t>
            </a:r>
            <a:r>
              <a:rPr lang="en" b="0" i="0" u="none" strike="noStrike" dirty="0">
                <a:effectLst/>
                <a:latin typeface="YS Text"/>
              </a:rPr>
              <a:t>Python (DATE);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models.DateTimeField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дата и время, как </a:t>
            </a:r>
            <a:r>
              <a:rPr lang="en" b="0" i="0" u="none" strike="noStrike" dirty="0" err="1">
                <a:effectLst/>
                <a:latin typeface="YS Text"/>
              </a:rPr>
              <a:t>datetime.datetime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в </a:t>
            </a:r>
            <a:r>
              <a:rPr lang="en" b="0" i="0" u="none" strike="noStrike" dirty="0">
                <a:effectLst/>
                <a:latin typeface="YS Text"/>
              </a:rPr>
              <a:t>Python (DATETIME);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models.SlugField</a:t>
            </a:r>
            <a:r>
              <a:rPr lang="en" b="0" i="0" u="none" strike="noStrike" dirty="0">
                <a:effectLst/>
                <a:latin typeface="YS Text"/>
              </a:rPr>
              <a:t>() — «</a:t>
            </a:r>
            <a:r>
              <a:rPr lang="ru-RU" b="0" i="0" u="none" strike="noStrike" dirty="0" err="1">
                <a:effectLst/>
                <a:latin typeface="YS Text"/>
              </a:rPr>
              <a:t>слаг</a:t>
            </a:r>
            <a:r>
              <a:rPr lang="ru-RU" b="0" i="0" u="none" strike="noStrike" dirty="0">
                <a:effectLst/>
                <a:latin typeface="YS Text"/>
              </a:rPr>
              <a:t>», для строк, состоящих только из цифр, букв латиницы и символов - и _. Обычно </a:t>
            </a:r>
            <a:r>
              <a:rPr lang="ru-RU" b="0" i="0" u="none" strike="noStrike" dirty="0" err="1">
                <a:effectLst/>
                <a:latin typeface="YS Text"/>
              </a:rPr>
              <a:t>слаг</a:t>
            </a:r>
            <a:r>
              <a:rPr lang="ru-RU" b="0" i="0" u="none" strike="noStrike" dirty="0">
                <a:effectLst/>
                <a:latin typeface="YS Text"/>
              </a:rPr>
              <a:t> используют для создания </a:t>
            </a:r>
            <a:r>
              <a:rPr lang="ru-RU" b="0" i="0" u="none" strike="noStrike" dirty="0" err="1">
                <a:effectLst/>
                <a:latin typeface="YS Text"/>
              </a:rPr>
              <a:t>человекочитаемых</a:t>
            </a:r>
            <a:r>
              <a:rPr lang="ru-RU" b="0" i="0" u="none" strike="noStrike" dirty="0">
                <a:effectLst/>
                <a:latin typeface="YS Text"/>
              </a:rPr>
              <a:t> </a:t>
            </a:r>
            <a:r>
              <a:rPr lang="en" b="0" i="0" u="none" strike="noStrike" dirty="0">
                <a:effectLst/>
                <a:latin typeface="YS Text"/>
              </a:rPr>
              <a:t>URL;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b="0" i="0" u="none" strike="noStrike" dirty="0" err="1">
                <a:effectLst/>
                <a:latin typeface="YS Text"/>
              </a:rPr>
              <a:t>models.ImageField</a:t>
            </a:r>
            <a:r>
              <a:rPr lang="en" b="0" i="0" u="none" strike="noStrike" dirty="0">
                <a:effectLst/>
                <a:latin typeface="YS Text"/>
              </a:rPr>
              <a:t>() — </a:t>
            </a:r>
            <a:r>
              <a:rPr lang="ru-RU" b="0" i="0" u="none" strike="noStrike" dirty="0">
                <a:effectLst/>
                <a:latin typeface="YS Text"/>
              </a:rPr>
              <a:t>для изображений.</a:t>
            </a:r>
          </a:p>
        </p:txBody>
      </p:sp>
    </p:spTree>
    <p:extLst>
      <p:ext uri="{BB962C8B-B14F-4D97-AF65-F5344CB8AC3E}">
        <p14:creationId xmlns:p14="http://schemas.microsoft.com/office/powerpoint/2010/main" val="2612844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FA44-067F-94CA-960F-3AE48A5C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AD83E-2C12-A407-23E6-B120948F6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60" y="372409"/>
            <a:ext cx="106214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Первая модель для первой таблицы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76A6C609-0FCA-8814-E3F8-120A74F2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14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429B7-8F89-06CF-F360-4DC6CF61BC9A}"/>
              </a:ext>
            </a:extLst>
          </p:cNvPr>
          <p:cNvSpPr txBox="1"/>
          <p:nvPr/>
        </p:nvSpPr>
        <p:spPr>
          <a:xfrm>
            <a:off x="484260" y="1697972"/>
            <a:ext cx="110747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# cinema/</a:t>
            </a:r>
            <a:r>
              <a:rPr lang="en" b="0" i="0" u="none" strike="noStrike" dirty="0" err="1">
                <a:effectLst/>
                <a:latin typeface="YS Text"/>
              </a:rPr>
              <a:t>models.py</a:t>
            </a: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# </a:t>
            </a:r>
            <a:r>
              <a:rPr lang="ru-RU" b="0" i="0" u="none" strike="noStrike" dirty="0">
                <a:effectLst/>
                <a:latin typeface="YS Text"/>
              </a:rPr>
              <a:t>Импортируем модуль с классом </a:t>
            </a:r>
            <a:r>
              <a:rPr lang="en" b="0" i="0" u="none" strike="noStrike" dirty="0">
                <a:effectLst/>
                <a:latin typeface="YS Text"/>
              </a:rPr>
              <a:t>Model, </a:t>
            </a:r>
            <a:r>
              <a:rPr lang="ru-RU" b="0" i="0" u="none" strike="noStrike" dirty="0">
                <a:effectLst/>
                <a:latin typeface="YS Text"/>
              </a:rPr>
              <a:t>от которого будем наследовать модели: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from </a:t>
            </a:r>
            <a:r>
              <a:rPr lang="en" b="0" i="0" u="none" strike="noStrike" dirty="0" err="1">
                <a:effectLst/>
                <a:latin typeface="YS Text"/>
              </a:rPr>
              <a:t>django.db</a:t>
            </a:r>
            <a:r>
              <a:rPr lang="en" b="0" i="0" u="none" strike="noStrike" dirty="0">
                <a:effectLst/>
                <a:latin typeface="YS Text"/>
              </a:rPr>
              <a:t> import models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VideoProduct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  <a:endParaRPr lang="ru-RU" b="0" i="0" u="none" strike="noStrike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728124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A8BF-D14D-2885-EF6B-D8B6E51D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53D6E-E61A-D153-771C-77541E683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60" y="372409"/>
            <a:ext cx="106214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Описание связей между моделями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43DD0BD7-AAAD-A831-618F-1E227CB5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15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1D6D3-E25C-E3C8-EF3F-D3E8AFFADA7C}"/>
              </a:ext>
            </a:extLst>
          </p:cNvPr>
          <p:cNvSpPr txBox="1"/>
          <p:nvPr/>
        </p:nvSpPr>
        <p:spPr>
          <a:xfrm>
            <a:off x="484260" y="1697972"/>
            <a:ext cx="110747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# cinema/</a:t>
            </a:r>
            <a:r>
              <a:rPr lang="en" b="0" i="0" u="none" strike="noStrike" dirty="0" err="1">
                <a:effectLst/>
                <a:latin typeface="YS Text"/>
              </a:rPr>
              <a:t>models.py</a:t>
            </a: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from </a:t>
            </a:r>
            <a:r>
              <a:rPr lang="en" b="0" i="0" u="none" strike="noStrike" dirty="0" err="1">
                <a:effectLst/>
                <a:latin typeface="YS Text"/>
              </a:rPr>
              <a:t>django.db</a:t>
            </a:r>
            <a:r>
              <a:rPr lang="en" b="0" i="0" u="none" strike="noStrike" dirty="0">
                <a:effectLst/>
                <a:latin typeface="YS Text"/>
              </a:rPr>
              <a:t> import models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OriginalTitle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VideoProduct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# </a:t>
            </a:r>
            <a:r>
              <a:rPr lang="ru-RU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Описываем поле, ссылающееся на модель </a:t>
            </a:r>
            <a:r>
              <a:rPr lang="en" b="0" i="1" u="none" strike="noStrike" dirty="0" err="1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OriginalTitle</a:t>
            </a:r>
            <a:r>
              <a:rPr lang="en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 err="1">
                <a:solidFill>
                  <a:schemeClr val="accent6"/>
                </a:solidFill>
                <a:effectLst/>
                <a:latin typeface="YS Text"/>
              </a:rPr>
              <a:t>original</a:t>
            </a:r>
            <a:r>
              <a:rPr lang="en" b="0" i="0" u="none" strike="noStrike" dirty="0" err="1">
                <a:effectLst/>
                <a:latin typeface="YS Text"/>
              </a:rPr>
              <a:t>_title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OneToOneField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    </a:t>
            </a:r>
            <a:r>
              <a:rPr lang="en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# </a:t>
            </a:r>
            <a:r>
              <a:rPr lang="ru-RU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На какую модель ссылаемся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OriginalTitle</a:t>
            </a:r>
            <a:r>
              <a:rPr lang="en" b="0" i="0" u="none" strike="noStrike" dirty="0">
                <a:effectLst/>
                <a:latin typeface="YS Text"/>
              </a:rPr>
              <a:t>,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    </a:t>
            </a:r>
            <a:r>
              <a:rPr lang="en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# </a:t>
            </a:r>
            <a:r>
              <a:rPr lang="ru-RU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Поведение при удалении:</a:t>
            </a:r>
          </a:p>
          <a:p>
            <a:pPr algn="l">
              <a:buNone/>
            </a:pPr>
            <a:r>
              <a:rPr lang="ru-RU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        # если оригинальное имя будет удалено,</a:t>
            </a:r>
          </a:p>
          <a:p>
            <a:pPr algn="l">
              <a:buNone/>
            </a:pPr>
            <a:r>
              <a:rPr lang="ru-RU" b="0" i="1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YS Text"/>
              </a:rPr>
              <a:t>        # то и сам фильм будет удалён. 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effectLst/>
                <a:latin typeface="YS Text"/>
              </a:rPr>
              <a:t>on_delete</a:t>
            </a:r>
            <a:r>
              <a:rPr lang="en" b="0" i="0" u="none" strike="noStrike" dirty="0">
                <a:effectLst/>
                <a:latin typeface="YS Text"/>
              </a:rPr>
              <a:t>=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CASCADE</a:t>
            </a:r>
            <a:endParaRPr lang="en" b="0" i="0" u="none" strike="noStrike" dirty="0">
              <a:solidFill>
                <a:schemeClr val="accent5"/>
              </a:solidFill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)</a:t>
            </a:r>
            <a:endParaRPr lang="ru-RU" b="0" i="0" u="none" strike="noStrike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95857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B8A1-1C2A-D086-7BEF-54E51A1D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3380D-C7D8-962F-2254-69BA5721B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60" y="372409"/>
            <a:ext cx="106214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Описание связей между моделями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8DB97D39-6D20-3D85-D433-E71FCAE5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16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3F2BF0-9533-4A2D-9F72-2CB8C28CF200}"/>
              </a:ext>
            </a:extLst>
          </p:cNvPr>
          <p:cNvSpPr txBox="1"/>
          <p:nvPr/>
        </p:nvSpPr>
        <p:spPr>
          <a:xfrm>
            <a:off x="484260" y="1697972"/>
            <a:ext cx="110747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# cinema/</a:t>
            </a:r>
            <a:r>
              <a:rPr lang="en" b="0" i="0" u="none" strike="noStrike" dirty="0" err="1">
                <a:effectLst/>
                <a:latin typeface="YS Text"/>
              </a:rPr>
              <a:t>models.py</a:t>
            </a: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from </a:t>
            </a:r>
            <a:r>
              <a:rPr lang="en" b="0" i="0" u="none" strike="noStrike" dirty="0" err="1">
                <a:effectLst/>
                <a:latin typeface="YS Text"/>
              </a:rPr>
              <a:t>django.db</a:t>
            </a:r>
            <a:r>
              <a:rPr lang="en" b="0" i="0" u="none" strike="noStrike" dirty="0">
                <a:effectLst/>
                <a:latin typeface="YS Text"/>
              </a:rPr>
              <a:t> import models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ProductType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VideoProduct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 err="1">
                <a:solidFill>
                  <a:schemeClr val="accent6"/>
                </a:solidFill>
                <a:effectLst/>
                <a:latin typeface="YS Text"/>
              </a:rPr>
              <a:t>product</a:t>
            </a:r>
            <a:r>
              <a:rPr lang="en" b="0" i="0" u="none" strike="noStrike" dirty="0" err="1">
                <a:effectLst/>
                <a:latin typeface="YS Text"/>
              </a:rPr>
              <a:t>_type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ForeignKey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ProductType</a:t>
            </a:r>
            <a:r>
              <a:rPr lang="en" b="0" i="0" u="none" strike="noStrike" dirty="0">
                <a:effectLst/>
                <a:latin typeface="YS Text"/>
              </a:rPr>
              <a:t>,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effectLst/>
                <a:latin typeface="YS Text"/>
              </a:rPr>
              <a:t>on_delete</a:t>
            </a:r>
            <a:r>
              <a:rPr lang="en" b="0" i="0" u="none" strike="noStrike" dirty="0">
                <a:effectLst/>
                <a:latin typeface="YS Text"/>
              </a:rPr>
              <a:t>=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CASCADE</a:t>
            </a:r>
            <a:endParaRPr lang="en" b="0" i="0" u="none" strike="noStrike" dirty="0">
              <a:solidFill>
                <a:schemeClr val="accent5"/>
              </a:solidFill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)</a:t>
            </a:r>
            <a:endParaRPr lang="ru-RU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   </a:t>
            </a:r>
            <a:r>
              <a:rPr lang="en" b="0" i="0" u="none" strike="noStrike" dirty="0" err="1">
                <a:solidFill>
                  <a:schemeClr val="accent6"/>
                </a:solidFill>
                <a:effectLst/>
                <a:latin typeface="YS Text"/>
              </a:rPr>
              <a:t>original</a:t>
            </a:r>
            <a:r>
              <a:rPr lang="en" b="0" i="0" u="none" strike="noStrike" dirty="0" err="1">
                <a:effectLst/>
                <a:latin typeface="YS Text"/>
              </a:rPr>
              <a:t>_title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OneToOneField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</a:p>
          <a:p>
            <a:pPr algn="l">
              <a:buNone/>
            </a:pPr>
            <a:r>
              <a:rPr lang="ru-RU" dirty="0">
                <a:solidFill>
                  <a:schemeClr val="accent5"/>
                </a:solidFill>
                <a:latin typeface="YS Text"/>
              </a:rPr>
              <a:t>       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OriginalTitle</a:t>
            </a:r>
            <a:r>
              <a:rPr lang="en" b="0" i="0" u="none" strike="noStrike" dirty="0">
                <a:effectLst/>
                <a:latin typeface="YS Text"/>
              </a:rPr>
              <a:t>,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effectLst/>
                <a:latin typeface="YS Text"/>
              </a:rPr>
              <a:t>on_delete</a:t>
            </a:r>
            <a:r>
              <a:rPr lang="en" b="0" i="0" u="none" strike="noStrike" dirty="0">
                <a:effectLst/>
                <a:latin typeface="YS Text"/>
              </a:rPr>
              <a:t>=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CASCADE</a:t>
            </a:r>
            <a:endParaRPr lang="en" b="0" i="0" u="none" strike="noStrike" dirty="0">
              <a:solidFill>
                <a:schemeClr val="accent5"/>
              </a:solidFill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ru-RU" b="0" i="0" u="none" strike="noStrike" dirty="0">
                <a:effectLst/>
                <a:latin typeface="YS Text"/>
              </a:rPr>
              <a:t> </a:t>
            </a:r>
            <a:r>
              <a:rPr lang="en" b="0" i="0" u="none" strike="noStrike" dirty="0">
                <a:effectLst/>
                <a:latin typeface="YS Text"/>
              </a:rPr>
              <a:t>)</a:t>
            </a:r>
            <a:endParaRPr lang="ru-RU" b="0" i="0" u="none" strike="noStrike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49163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3969-8D41-DD0D-FC46-924BFC6F6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81939-E259-869A-4C11-3C5248A35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60" y="372409"/>
            <a:ext cx="106214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Описание связей между моделями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611F963-2EE3-F1EA-8FE4-0833FCF7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17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2972A-EF52-7C70-B3A3-D776E38B8D78}"/>
              </a:ext>
            </a:extLst>
          </p:cNvPr>
          <p:cNvSpPr txBox="1"/>
          <p:nvPr/>
        </p:nvSpPr>
        <p:spPr>
          <a:xfrm>
            <a:off x="484260" y="1697972"/>
            <a:ext cx="110747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from </a:t>
            </a:r>
            <a:r>
              <a:rPr lang="en" b="0" i="0" u="none" strike="noStrike" dirty="0" err="1">
                <a:effectLst/>
                <a:latin typeface="YS Text"/>
              </a:rPr>
              <a:t>django.db</a:t>
            </a:r>
            <a:r>
              <a:rPr lang="en" b="0" i="0" u="none" strike="noStrike" dirty="0">
                <a:effectLst/>
                <a:latin typeface="YS Text"/>
              </a:rPr>
              <a:t> import models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>
                <a:solidFill>
                  <a:schemeClr val="accent5"/>
                </a:solidFill>
                <a:effectLst/>
                <a:latin typeface="YS Text"/>
              </a:rPr>
              <a:t>Director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 err="1">
                <a:solidFill>
                  <a:schemeClr val="accent6"/>
                </a:solidFill>
                <a:effectLst/>
                <a:latin typeface="YS Text"/>
              </a:rPr>
              <a:t>full_name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 </a:t>
            </a:r>
            <a:r>
              <a:rPr lang="en" b="0" i="0" u="none" strike="noStrike" dirty="0">
                <a:effectLst/>
                <a:latin typeface="YS Text"/>
              </a:rPr>
              <a:t>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6BC35-95B4-0700-E890-F117A5CE8698}"/>
              </a:ext>
            </a:extLst>
          </p:cNvPr>
          <p:cNvSpPr txBox="1"/>
          <p:nvPr/>
        </p:nvSpPr>
        <p:spPr>
          <a:xfrm>
            <a:off x="5794960" y="2469537"/>
            <a:ext cx="60978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class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VideoProduct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models.Model</a:t>
            </a:r>
            <a:r>
              <a:rPr lang="en" b="0" i="0" u="none" strike="noStrike" dirty="0">
                <a:effectLst/>
                <a:latin typeface="YS Text"/>
              </a:rPr>
              <a:t>):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CharField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 err="1">
                <a:effectLst/>
                <a:latin typeface="YS Text"/>
              </a:rPr>
              <a:t>max_length</a:t>
            </a:r>
            <a:r>
              <a:rPr lang="en" b="0" i="0" u="none" strike="noStrike" dirty="0">
                <a:effectLst/>
                <a:latin typeface="YS Text"/>
              </a:rPr>
              <a:t>=128)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en" b="0" i="0" u="none" strike="noStrike" dirty="0" err="1">
                <a:solidFill>
                  <a:schemeClr val="accent6"/>
                </a:solidFill>
                <a:effectLst/>
                <a:latin typeface="YS Text"/>
              </a:rPr>
              <a:t>product</a:t>
            </a:r>
            <a:r>
              <a:rPr lang="en" b="0" i="0" u="none" strike="noStrike" dirty="0" err="1">
                <a:effectLst/>
                <a:latin typeface="YS Text"/>
              </a:rPr>
              <a:t>_type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ForeignKey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ProductType</a:t>
            </a:r>
            <a:r>
              <a:rPr lang="en" b="0" i="0" u="none" strike="noStrike" dirty="0">
                <a:effectLst/>
                <a:latin typeface="YS Text"/>
              </a:rPr>
              <a:t>,</a:t>
            </a: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effectLst/>
                <a:latin typeface="YS Text"/>
              </a:rPr>
              <a:t>on_delete</a:t>
            </a:r>
            <a:r>
              <a:rPr lang="en" b="0" i="0" u="none" strike="noStrike" dirty="0">
                <a:effectLst/>
                <a:latin typeface="YS Text"/>
              </a:rPr>
              <a:t>=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CASCADE</a:t>
            </a:r>
            <a:endParaRPr lang="en" b="0" i="0" u="none" strike="noStrike" dirty="0">
              <a:solidFill>
                <a:schemeClr val="accent5"/>
              </a:solidFill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)</a:t>
            </a:r>
            <a:endParaRPr lang="ru-RU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   </a:t>
            </a:r>
            <a:r>
              <a:rPr lang="en" b="0" i="0" u="none" strike="noStrike" dirty="0" err="1">
                <a:solidFill>
                  <a:schemeClr val="accent6"/>
                </a:solidFill>
                <a:effectLst/>
                <a:latin typeface="YS Text"/>
              </a:rPr>
              <a:t>original</a:t>
            </a:r>
            <a:r>
              <a:rPr lang="en" b="0" i="0" u="none" strike="noStrike" dirty="0" err="1">
                <a:effectLst/>
                <a:latin typeface="YS Text"/>
              </a:rPr>
              <a:t>_title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OneToOneField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</a:p>
          <a:p>
            <a:pPr algn="l">
              <a:buNone/>
            </a:pPr>
            <a:r>
              <a:rPr lang="ru-RU" dirty="0">
                <a:solidFill>
                  <a:schemeClr val="accent5"/>
                </a:solidFill>
                <a:latin typeface="YS Text"/>
              </a:rPr>
              <a:t>        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OriginalTitle</a:t>
            </a:r>
            <a:r>
              <a:rPr lang="en" b="0" i="0" u="none" strike="noStrike" dirty="0">
                <a:effectLst/>
                <a:latin typeface="YS Text"/>
              </a:rPr>
              <a:t>,</a:t>
            </a: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        </a:t>
            </a:r>
            <a:r>
              <a:rPr lang="en" b="0" i="0" u="none" strike="noStrike" dirty="0" err="1">
                <a:effectLst/>
                <a:latin typeface="YS Text"/>
              </a:rPr>
              <a:t>on_delete</a:t>
            </a:r>
            <a:r>
              <a:rPr lang="en" b="0" i="0" u="none" strike="noStrike" dirty="0">
                <a:effectLst/>
                <a:latin typeface="YS Text"/>
              </a:rPr>
              <a:t>=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CASCADE</a:t>
            </a:r>
            <a:endParaRPr lang="en" b="0" i="0" u="none" strike="noStrike" dirty="0">
              <a:solidFill>
                <a:schemeClr val="accent5"/>
              </a:solidFill>
              <a:effectLst/>
              <a:latin typeface="YS Text"/>
            </a:endParaRPr>
          </a:p>
          <a:p>
            <a:pPr algn="l">
              <a:buNone/>
            </a:pPr>
            <a:r>
              <a:rPr lang="en" b="0" i="0" u="none" strike="noStrike" dirty="0">
                <a:effectLst/>
                <a:latin typeface="YS Text"/>
              </a:rPr>
              <a:t>    </a:t>
            </a:r>
            <a:r>
              <a:rPr lang="ru-RU" b="0" i="0" u="none" strike="noStrike" dirty="0">
                <a:effectLst/>
                <a:latin typeface="YS Text"/>
              </a:rPr>
              <a:t> </a:t>
            </a:r>
            <a:r>
              <a:rPr lang="en" b="0" i="0" u="none" strike="noStrike" dirty="0">
                <a:effectLst/>
                <a:latin typeface="YS Text"/>
              </a:rPr>
              <a:t>)</a:t>
            </a:r>
            <a:endParaRPr lang="ru-RU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ru-RU" b="0" i="0" u="none" strike="noStrike" dirty="0">
                <a:solidFill>
                  <a:schemeClr val="accent6"/>
                </a:solidFill>
                <a:effectLst/>
                <a:latin typeface="YS Text"/>
              </a:rPr>
              <a:t>     </a:t>
            </a:r>
            <a:r>
              <a:rPr lang="en" b="0" i="0" u="none" strike="noStrike" dirty="0">
                <a:solidFill>
                  <a:schemeClr val="accent6"/>
                </a:solidFill>
                <a:effectLst/>
                <a:latin typeface="YS Text"/>
              </a:rPr>
              <a:t>directors</a:t>
            </a:r>
            <a:r>
              <a:rPr lang="en" b="0" i="0" u="none" strike="noStrike" dirty="0">
                <a:effectLst/>
                <a:latin typeface="YS Text"/>
              </a:rPr>
              <a:t> = </a:t>
            </a:r>
            <a:r>
              <a:rPr lang="en" b="0" i="0" u="none" strike="noStrike" dirty="0" err="1">
                <a:effectLst/>
                <a:latin typeface="YS Text"/>
              </a:rPr>
              <a:t>models.</a:t>
            </a:r>
            <a:r>
              <a:rPr lang="en" b="0" i="0" u="none" strike="noStrike" dirty="0" err="1">
                <a:solidFill>
                  <a:schemeClr val="accent5"/>
                </a:solidFill>
                <a:effectLst/>
                <a:latin typeface="YS Text"/>
              </a:rPr>
              <a:t>ManyToManyField</a:t>
            </a:r>
            <a:r>
              <a:rPr lang="en" b="0" i="0" u="none" strike="noStrike" dirty="0">
                <a:effectLst/>
                <a:latin typeface="YS Text"/>
              </a:rPr>
              <a:t>(</a:t>
            </a:r>
            <a:r>
              <a:rPr lang="en" b="0" i="0" u="none" strike="noStrike" dirty="0">
                <a:solidFill>
                  <a:schemeClr val="accent5"/>
                </a:solidFill>
                <a:effectLst/>
                <a:latin typeface="YS Text"/>
              </a:rPr>
              <a:t>Director</a:t>
            </a:r>
            <a:r>
              <a:rPr lang="en" b="0" i="0" u="none" strike="noStrike" dirty="0">
                <a:effectLst/>
                <a:latin typeface="YS Text"/>
              </a:rPr>
              <a:t>)</a:t>
            </a:r>
            <a:endParaRPr lang="ru-RU" b="0" i="0" u="none" strike="noStrike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321129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Миграции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18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590060" y="2386032"/>
            <a:ext cx="113962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Миграции выполняются в два этапа:</a:t>
            </a:r>
          </a:p>
          <a:p>
            <a:pPr algn="l">
              <a:buNone/>
            </a:pPr>
            <a:endParaRPr lang="ru-RU" b="0" i="0" u="none" strike="noStrike" dirty="0">
              <a:effectLst/>
              <a:latin typeface="YS Text"/>
            </a:endParaRPr>
          </a:p>
          <a:p>
            <a:pPr algn="l">
              <a:buFont typeface="+mj-lt"/>
              <a:buAutoNum type="arabicPeriod"/>
            </a:pPr>
            <a:r>
              <a:rPr lang="ru-RU" b="0" i="0" u="none" strike="noStrike" dirty="0">
                <a:effectLst/>
                <a:latin typeface="YS Text"/>
              </a:rPr>
              <a:t>  Разработчик запускает команду 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python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manage.py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makemigrations</a:t>
            </a:r>
            <a:r>
              <a:rPr lang="en" b="0" i="0" u="none" strike="noStrike" dirty="0">
                <a:effectLst/>
                <a:latin typeface="YS Text"/>
              </a:rPr>
              <a:t>. </a:t>
            </a:r>
            <a:r>
              <a:rPr lang="ru-RU" b="0" i="0" u="none" strike="noStrike" dirty="0">
                <a:effectLst/>
                <a:latin typeface="YS Text"/>
              </a:rPr>
              <a:t>По этой команде </a:t>
            </a:r>
            <a:r>
              <a:rPr lang="en" b="0" i="0" u="none" strike="noStrike" dirty="0">
                <a:effectLst/>
                <a:latin typeface="YS Text"/>
              </a:rPr>
              <a:t>Django ORM </a:t>
            </a:r>
            <a:r>
              <a:rPr lang="ru-RU" b="0" i="0" u="none" strike="noStrike" dirty="0">
                <a:effectLst/>
                <a:latin typeface="YS Text"/>
              </a:rPr>
              <a:t>прочтёт и проанализирует все модели проекта, проверит, не приведут ли предполагаемые изменения к проблемам. Если всё хорошо — список планируемых изменений будет сохранён в папке </a:t>
            </a:r>
            <a:r>
              <a:rPr lang="en" b="0" i="1" u="none" strike="noStrike" dirty="0">
                <a:effectLst/>
                <a:latin typeface="YS Text"/>
              </a:rPr>
              <a:t>migrations/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приложений в отдельных файлах. </a:t>
            </a: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Если в какой-то момент модели снова будут изменены и снова потребуются миграции — при следующем выполнении команды </a:t>
            </a:r>
            <a:r>
              <a:rPr lang="en" b="0" i="0" u="none" strike="noStrike" dirty="0" err="1">
                <a:effectLst/>
                <a:latin typeface="YS Text"/>
              </a:rPr>
              <a:t>makemigrations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будет создан новый файл миграций; таким образом информация о миграциях сохраняется и накапливается. Это даёт возможность, например, «откатиться» к какому-то из предыдущих состояний БД. При выполнении команды </a:t>
            </a:r>
            <a:r>
              <a:rPr lang="en" b="0" i="0" u="none" strike="noStrike" dirty="0" err="1">
                <a:effectLst/>
                <a:latin typeface="YS Text"/>
              </a:rPr>
              <a:t>makemigrations</a:t>
            </a:r>
            <a:r>
              <a:rPr lang="ru-RU" b="0" i="0" u="none" strike="noStrike" dirty="0">
                <a:effectLst/>
                <a:latin typeface="YS Text"/>
              </a:rPr>
              <a:t>никаких изменений в БД не вносится.</a:t>
            </a:r>
          </a:p>
          <a:p>
            <a:pPr algn="l">
              <a:buFont typeface="+mj-lt"/>
              <a:buAutoNum type="arabicPeriod"/>
            </a:pPr>
            <a:endParaRPr lang="ru-RU" b="0" i="0" u="none" strike="noStrike" dirty="0">
              <a:effectLst/>
              <a:latin typeface="YS Text"/>
            </a:endParaRPr>
          </a:p>
          <a:p>
            <a:pPr algn="l"/>
            <a:r>
              <a:rPr lang="ru-RU" dirty="0">
                <a:latin typeface="YS Text"/>
              </a:rPr>
              <a:t>2</a:t>
            </a:r>
            <a:r>
              <a:rPr lang="en-US" dirty="0">
                <a:latin typeface="YS Text"/>
              </a:rPr>
              <a:t>. </a:t>
            </a:r>
            <a:r>
              <a:rPr lang="ru-RU" b="0" i="0" u="none" strike="noStrike" dirty="0">
                <a:effectLst/>
                <a:latin typeface="YS Text"/>
              </a:rPr>
              <a:t>После того как миграции созданы, разработчик запускает команду 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python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manage.py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 migrate</a:t>
            </a:r>
            <a:r>
              <a:rPr lang="en" b="0" i="0" u="none" strike="noStrike" dirty="0">
                <a:effectLst/>
                <a:latin typeface="YS Text"/>
              </a:rPr>
              <a:t>; </a:t>
            </a:r>
            <a:endParaRPr lang="ru-RU" b="0" i="0" u="none" strike="noStrike" dirty="0">
              <a:effectLst/>
              <a:latin typeface="YS Text"/>
            </a:endParaRP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основываясь на файлах миграций, </a:t>
            </a:r>
            <a:r>
              <a:rPr lang="en" b="0" i="0" u="none" strike="noStrike" dirty="0">
                <a:effectLst/>
                <a:latin typeface="YS Text"/>
              </a:rPr>
              <a:t>Django </a:t>
            </a:r>
            <a:r>
              <a:rPr lang="ru-RU" b="0" i="0" u="none" strike="noStrike" dirty="0">
                <a:effectLst/>
                <a:latin typeface="YS Text"/>
              </a:rPr>
              <a:t>создаст и выполнит </a:t>
            </a:r>
            <a:r>
              <a:rPr lang="en" b="0" i="0" u="none" strike="noStrike" dirty="0">
                <a:effectLst/>
                <a:latin typeface="YS Text"/>
              </a:rPr>
              <a:t>SQL-</a:t>
            </a:r>
            <a:r>
              <a:rPr lang="ru-RU" b="0" i="0" u="none" strike="noStrike" dirty="0">
                <a:effectLst/>
                <a:latin typeface="YS Text"/>
              </a:rPr>
              <a:t>запросы, формирующие или изменяющие таблицы.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C6319-0A64-3EE7-A076-5163BE41D957}"/>
              </a:ext>
            </a:extLst>
          </p:cNvPr>
          <p:cNvSpPr txBox="1"/>
          <p:nvPr/>
        </p:nvSpPr>
        <p:spPr>
          <a:xfrm>
            <a:off x="593732" y="1498294"/>
            <a:ext cx="7458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effectLst/>
                <a:latin typeface="YS Text"/>
              </a:rPr>
              <a:t>После того как модели созданы, на их основе нужно создать таблицы в БД. </a:t>
            </a:r>
            <a:r>
              <a:rPr lang="en" b="0" i="0" u="none" strike="noStrike" dirty="0">
                <a:effectLst/>
                <a:latin typeface="YS Text"/>
              </a:rPr>
              <a:t>Django ORM </a:t>
            </a:r>
            <a:r>
              <a:rPr lang="ru-RU" b="0" i="0" u="none" strike="noStrike" dirty="0">
                <a:effectLst/>
                <a:latin typeface="YS Text"/>
              </a:rPr>
              <a:t>делает это с помощью механизма </a:t>
            </a:r>
            <a:r>
              <a:rPr lang="ru-RU" b="1" i="0" u="none" strike="noStrike" dirty="0">
                <a:effectLst/>
                <a:latin typeface="YS Text"/>
              </a:rPr>
              <a:t>миграций</a:t>
            </a:r>
            <a:r>
              <a:rPr lang="ru-RU" b="0" i="0" u="none" strike="noStrike" dirty="0">
                <a:effectLst/>
                <a:latin typeface="YS Text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693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81D0-A9C3-83F0-592F-0ED92E4F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44AE2-E184-77E7-8A09-8FE038D7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Миграции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1DF9D85-1D94-6C51-D4FD-CB8E681F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19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A9AD2C-970F-4BA1-FF5F-D2DD627C8123}"/>
              </a:ext>
            </a:extLst>
          </p:cNvPr>
          <p:cNvSpPr/>
          <p:nvPr/>
        </p:nvSpPr>
        <p:spPr>
          <a:xfrm>
            <a:off x="590060" y="2386032"/>
            <a:ext cx="113962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Миграции выполняются в два этапа:</a:t>
            </a:r>
          </a:p>
          <a:p>
            <a:pPr algn="l">
              <a:buNone/>
            </a:pPr>
            <a:endParaRPr lang="ru-RU" b="0" i="0" u="none" strike="noStrike" dirty="0">
              <a:effectLst/>
              <a:latin typeface="YS Text"/>
            </a:endParaRPr>
          </a:p>
          <a:p>
            <a:pPr algn="l">
              <a:buFont typeface="+mj-lt"/>
              <a:buAutoNum type="arabicPeriod"/>
            </a:pPr>
            <a:r>
              <a:rPr lang="ru-RU" b="0" i="0" u="none" strike="noStrike" dirty="0">
                <a:effectLst/>
                <a:latin typeface="YS Text"/>
              </a:rPr>
              <a:t>  Разработчик запускает команду 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python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manage.py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makemigrations</a:t>
            </a:r>
            <a:r>
              <a:rPr lang="en" b="0" i="0" u="none" strike="noStrike" dirty="0">
                <a:effectLst/>
                <a:latin typeface="YS Text"/>
              </a:rPr>
              <a:t>. </a:t>
            </a:r>
            <a:r>
              <a:rPr lang="ru-RU" b="0" i="0" u="none" strike="noStrike" dirty="0">
                <a:effectLst/>
                <a:latin typeface="YS Text"/>
              </a:rPr>
              <a:t>По этой команде </a:t>
            </a:r>
            <a:r>
              <a:rPr lang="en" b="0" i="0" u="none" strike="noStrike" dirty="0">
                <a:effectLst/>
                <a:latin typeface="YS Text"/>
              </a:rPr>
              <a:t>Django ORM </a:t>
            </a:r>
            <a:r>
              <a:rPr lang="ru-RU" b="0" i="0" u="none" strike="noStrike" dirty="0">
                <a:effectLst/>
                <a:latin typeface="YS Text"/>
              </a:rPr>
              <a:t>прочтёт и проанализирует все модели проекта, проверит, не приведут ли предполагаемые изменения к проблемам. Если всё хорошо — список планируемых изменений будет сохранён в папке </a:t>
            </a:r>
            <a:r>
              <a:rPr lang="en" b="0" i="1" u="none" strike="noStrike" dirty="0">
                <a:effectLst/>
                <a:latin typeface="YS Text"/>
              </a:rPr>
              <a:t>migrations/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приложений в отдельных файлах. </a:t>
            </a: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Если в какой-то момент модели снова будут изменены и снова потребуются миграции — при следующем выполнении команды </a:t>
            </a:r>
            <a:r>
              <a:rPr lang="en" b="0" i="0" u="none" strike="noStrike" dirty="0" err="1">
                <a:effectLst/>
                <a:latin typeface="YS Text"/>
              </a:rPr>
              <a:t>makemigrations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ru-RU" b="0" i="0" u="none" strike="noStrike" dirty="0">
                <a:effectLst/>
                <a:latin typeface="YS Text"/>
              </a:rPr>
              <a:t>будет создан новый файл миграций; таким образом информация о миграциях сохраняется и накапливается. Это даёт возможность, например, «откатиться» к какому-то из предыдущих состояний БД. При выполнении команды </a:t>
            </a:r>
            <a:r>
              <a:rPr lang="en" b="0" i="0" u="none" strike="noStrike" dirty="0" err="1">
                <a:effectLst/>
                <a:latin typeface="YS Text"/>
              </a:rPr>
              <a:t>makemigrations</a:t>
            </a:r>
            <a:r>
              <a:rPr lang="ru-RU" b="0" i="0" u="none" strike="noStrike" dirty="0">
                <a:effectLst/>
                <a:latin typeface="YS Text"/>
              </a:rPr>
              <a:t>никаких изменений в БД не вносится.</a:t>
            </a:r>
          </a:p>
          <a:p>
            <a:pPr algn="l">
              <a:buFont typeface="+mj-lt"/>
              <a:buAutoNum type="arabicPeriod"/>
            </a:pPr>
            <a:endParaRPr lang="ru-RU" b="0" i="0" u="none" strike="noStrike" dirty="0">
              <a:effectLst/>
              <a:latin typeface="YS Text"/>
            </a:endParaRPr>
          </a:p>
          <a:p>
            <a:pPr algn="l"/>
            <a:r>
              <a:rPr lang="ru-RU" dirty="0">
                <a:latin typeface="YS Text"/>
              </a:rPr>
              <a:t>2</a:t>
            </a:r>
            <a:r>
              <a:rPr lang="en-US" dirty="0">
                <a:latin typeface="YS Text"/>
              </a:rPr>
              <a:t>. </a:t>
            </a:r>
            <a:r>
              <a:rPr lang="ru-RU" b="0" i="0" u="none" strike="noStrike" dirty="0">
                <a:effectLst/>
                <a:latin typeface="YS Text"/>
              </a:rPr>
              <a:t>После того как миграции созданы, разработчик запускает команду 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python </a:t>
            </a:r>
            <a:r>
              <a:rPr lang="en" b="0" i="0" u="none" strike="noStrike" dirty="0" err="1">
                <a:solidFill>
                  <a:schemeClr val="accent1"/>
                </a:solidFill>
                <a:effectLst/>
                <a:latin typeface="YS Text"/>
              </a:rPr>
              <a:t>manage.py</a:t>
            </a:r>
            <a:r>
              <a:rPr lang="en" b="0" i="0" u="none" strike="noStrike" dirty="0">
                <a:solidFill>
                  <a:schemeClr val="accent1"/>
                </a:solidFill>
                <a:effectLst/>
                <a:latin typeface="YS Text"/>
              </a:rPr>
              <a:t> migrate</a:t>
            </a:r>
            <a:r>
              <a:rPr lang="en" b="0" i="0" u="none" strike="noStrike" dirty="0">
                <a:effectLst/>
                <a:latin typeface="YS Text"/>
              </a:rPr>
              <a:t>; </a:t>
            </a:r>
            <a:endParaRPr lang="ru-RU" b="0" i="0" u="none" strike="noStrike" dirty="0">
              <a:effectLst/>
              <a:latin typeface="YS Text"/>
            </a:endParaRP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основываясь на файлах миграций, </a:t>
            </a:r>
            <a:r>
              <a:rPr lang="en" b="0" i="0" u="none" strike="noStrike" dirty="0">
                <a:effectLst/>
                <a:latin typeface="YS Text"/>
              </a:rPr>
              <a:t>Django </a:t>
            </a:r>
            <a:r>
              <a:rPr lang="ru-RU" b="0" i="0" u="none" strike="noStrike" dirty="0">
                <a:effectLst/>
                <a:latin typeface="YS Text"/>
              </a:rPr>
              <a:t>создаст и выполнит </a:t>
            </a:r>
            <a:r>
              <a:rPr lang="en" b="0" i="0" u="none" strike="noStrike" dirty="0">
                <a:effectLst/>
                <a:latin typeface="YS Text"/>
              </a:rPr>
              <a:t>SQL-</a:t>
            </a:r>
            <a:r>
              <a:rPr lang="ru-RU" b="0" i="0" u="none" strike="noStrike" dirty="0">
                <a:effectLst/>
                <a:latin typeface="YS Text"/>
              </a:rPr>
              <a:t>запросы, формирующие или изменяющие таблицы.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ED6E5-3D36-9D42-3057-2AEF1D6150C3}"/>
              </a:ext>
            </a:extLst>
          </p:cNvPr>
          <p:cNvSpPr txBox="1"/>
          <p:nvPr/>
        </p:nvSpPr>
        <p:spPr>
          <a:xfrm>
            <a:off x="593732" y="1498294"/>
            <a:ext cx="7458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effectLst/>
                <a:latin typeface="YS Text"/>
              </a:rPr>
              <a:t>После того как модели созданы, на их основе нужно создать таблицы в БД. </a:t>
            </a:r>
            <a:r>
              <a:rPr lang="en" b="0" i="0" u="none" strike="noStrike" dirty="0">
                <a:effectLst/>
                <a:latin typeface="YS Text"/>
              </a:rPr>
              <a:t>Django ORM </a:t>
            </a:r>
            <a:r>
              <a:rPr lang="ru-RU" b="0" i="0" u="none" strike="noStrike" dirty="0">
                <a:effectLst/>
                <a:latin typeface="YS Text"/>
              </a:rPr>
              <a:t>делает это с помощью механизма </a:t>
            </a:r>
            <a:r>
              <a:rPr lang="ru-RU" b="1" i="0" u="none" strike="noStrike" dirty="0">
                <a:effectLst/>
                <a:latin typeface="YS Text"/>
              </a:rPr>
              <a:t>миграций</a:t>
            </a:r>
            <a:r>
              <a:rPr lang="ru-RU" b="0" i="0" u="none" strike="noStrike" dirty="0">
                <a:effectLst/>
                <a:latin typeface="YS Text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9168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Создание суперпользователя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20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672029" y="1513306"/>
            <a:ext cx="1142027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Пользователей с правами </a:t>
            </a:r>
            <a:r>
              <a:rPr lang="en" b="0" i="0" u="none" strike="noStrike" dirty="0">
                <a:effectLst/>
                <a:latin typeface="YS Text"/>
              </a:rPr>
              <a:t>superuser (</a:t>
            </a:r>
            <a:r>
              <a:rPr lang="ru-RU" b="0" i="0" u="none" strike="noStrike" dirty="0">
                <a:effectLst/>
                <a:latin typeface="YS Text"/>
              </a:rPr>
              <a:t>иначе их называют </a:t>
            </a:r>
            <a:r>
              <a:rPr lang="ru-RU" b="0" i="0" u="sng" strike="noStrike" dirty="0">
                <a:effectLst/>
                <a:latin typeface="YS Text"/>
              </a:rPr>
              <a:t>«суперпользователями»</a:t>
            </a:r>
            <a:r>
              <a:rPr lang="ru-RU" b="0" i="0" u="none" strike="noStrike" dirty="0">
                <a:effectLst/>
                <a:latin typeface="YS Text"/>
              </a:rPr>
              <a:t>) можно создать через админ-зону (там есть специальный раздел для управления пользователями). </a:t>
            </a:r>
            <a:endParaRPr lang="en-US" b="0" i="0" u="none" strike="noStrike" dirty="0">
              <a:effectLst/>
              <a:latin typeface="YS Text"/>
            </a:endParaRPr>
          </a:p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Но первого суперпользователя нужно создать через консоль.</a:t>
            </a:r>
          </a:p>
          <a:p>
            <a:pPr>
              <a:buNone/>
            </a:pPr>
            <a:br>
              <a:rPr lang="ru-RU" dirty="0"/>
            </a:br>
            <a:r>
              <a:rPr lang="en" dirty="0">
                <a:solidFill>
                  <a:schemeClr val="accent5"/>
                </a:solidFill>
              </a:rPr>
              <a:t>python </a:t>
            </a:r>
            <a:r>
              <a:rPr lang="en" dirty="0" err="1">
                <a:solidFill>
                  <a:schemeClr val="accent5"/>
                </a:solidFill>
              </a:rPr>
              <a:t>manage.py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createsuperuser</a:t>
            </a:r>
            <a:endParaRPr lang="en" dirty="0">
              <a:solidFill>
                <a:schemeClr val="accent5"/>
              </a:solidFill>
            </a:endParaRPr>
          </a:p>
          <a:p>
            <a:pPr>
              <a:buNone/>
            </a:pPr>
            <a:endParaRPr lang="en" dirty="0">
              <a:solidFill>
                <a:schemeClr val="accent5"/>
              </a:solidFill>
            </a:endParaRPr>
          </a:p>
          <a:p>
            <a:pPr>
              <a:buNone/>
            </a:pPr>
            <a:r>
              <a:rPr lang="ru-RU" b="0" i="0" u="none" strike="noStrike" dirty="0">
                <a:effectLst/>
                <a:latin typeface="YS Text"/>
              </a:rPr>
              <a:t>После этого система запросит имя для нового пользователя, адрес его почты и пароль: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B5DCDB-5006-94CD-FFB1-FA24134F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15" y="3858793"/>
            <a:ext cx="7260115" cy="17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50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A338-AF30-6003-46C7-41066779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87A72-5DA9-E0ED-548C-795D3816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Добро пожаловать в админ-зону!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8D163B1-363F-9066-C1ED-3BD98995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21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D5B1C7-87A6-1C22-74F4-121EC26BCD6A}"/>
              </a:ext>
            </a:extLst>
          </p:cNvPr>
          <p:cNvSpPr/>
          <p:nvPr/>
        </p:nvSpPr>
        <p:spPr>
          <a:xfrm>
            <a:off x="6971582" y="1596262"/>
            <a:ext cx="49135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Запустите в активированном окружении сайт командой: </a:t>
            </a:r>
            <a:r>
              <a:rPr lang="en" b="0" i="0" u="none" strike="noStrike" dirty="0">
                <a:effectLst/>
                <a:latin typeface="YS Text"/>
              </a:rPr>
              <a:t>python </a:t>
            </a:r>
            <a:r>
              <a:rPr lang="en" b="0" i="0" u="none" strike="noStrike" dirty="0" err="1">
                <a:effectLst/>
                <a:latin typeface="YS Text"/>
              </a:rPr>
              <a:t>manage.py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  <a:r>
              <a:rPr lang="en" b="0" i="0" u="none" strike="noStrike" dirty="0" err="1">
                <a:effectLst/>
                <a:latin typeface="YS Text"/>
              </a:rPr>
              <a:t>runserver</a:t>
            </a:r>
            <a:endParaRPr lang="en" b="0" i="0" u="none" strike="noStrike" dirty="0">
              <a:effectLst/>
              <a:latin typeface="YS Text"/>
            </a:endParaRPr>
          </a:p>
          <a:p>
            <a:pPr algn="l"/>
            <a:r>
              <a:rPr lang="ru-RU" b="0" i="0" u="none" strike="noStrike" dirty="0">
                <a:effectLst/>
                <a:latin typeface="YS Text"/>
              </a:rPr>
              <a:t>Откройте в браузере страницу авторизации — </a:t>
            </a:r>
            <a:r>
              <a:rPr lang="en" b="0" i="0" u="none" strike="noStrike" dirty="0">
                <a:effectLst/>
                <a:latin typeface="YS 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http://127.0.0.1:8000/admin/</a:t>
            </a:r>
            <a:endParaRPr lang="en" b="0" i="0" u="none" strike="noStrike" dirty="0">
              <a:effectLst/>
              <a:latin typeface="YS Tex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80E6CF-F834-26F8-AE55-CAA2F9B67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61" y="1471028"/>
            <a:ext cx="5359048" cy="3186131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FAC587-E94C-3230-804E-A509C92A19C9}"/>
              </a:ext>
            </a:extLst>
          </p:cNvPr>
          <p:cNvSpPr/>
          <p:nvPr/>
        </p:nvSpPr>
        <p:spPr>
          <a:xfrm>
            <a:off x="590060" y="4832448"/>
            <a:ext cx="49293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Введите имя и пароль суперпользователя — и вы попадёте в админ-зону сайта</a:t>
            </a:r>
            <a:endParaRPr lang="en" b="0" i="0" u="none" strike="noStrike" dirty="0">
              <a:effectLst/>
              <a:latin typeface="YS Tex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6F9BF9A-CF45-183E-70B7-B892B2518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109" y="3009034"/>
            <a:ext cx="60833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6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D2E4-0E0C-6E0E-0F31-0979EB38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C8578-11A1-725E-278E-98506836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ru-RU" b="1" i="0" u="none" strike="noStrike" dirty="0">
                <a:effectLst/>
                <a:latin typeface="YS Text"/>
              </a:rPr>
              <a:t>Добавление моделей в админ-панель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4450B088-3C8B-F2A4-19CD-0C0D7F8E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22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9DBB26-8754-04C8-437E-F82002A59615}"/>
              </a:ext>
            </a:extLst>
          </p:cNvPr>
          <p:cNvSpPr/>
          <p:nvPr/>
        </p:nvSpPr>
        <p:spPr>
          <a:xfrm>
            <a:off x="590060" y="1805582"/>
            <a:ext cx="69014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u="none" strike="noStrike" dirty="0">
                <a:effectLst/>
                <a:latin typeface="YS Text"/>
              </a:rPr>
              <a:t>Для отображения в админке модели регистрируются в файлах </a:t>
            </a:r>
            <a:r>
              <a:rPr lang="ru-RU" b="0" i="1" u="none" strike="noStrike" dirty="0">
                <a:effectLst/>
                <a:latin typeface="YS Text"/>
              </a:rPr>
              <a:t>&lt;</a:t>
            </a:r>
            <a:r>
              <a:rPr lang="ru-RU" b="0" i="1" u="none" strike="noStrike" dirty="0" err="1">
                <a:effectLst/>
                <a:latin typeface="YS Text"/>
              </a:rPr>
              <a:t>имя_приложения</a:t>
            </a:r>
            <a:r>
              <a:rPr lang="ru-RU" b="0" i="1" u="none" strike="noStrike" dirty="0">
                <a:effectLst/>
                <a:latin typeface="YS Text"/>
              </a:rPr>
              <a:t>&gt;/</a:t>
            </a:r>
            <a:r>
              <a:rPr lang="en" b="0" i="1" u="none" strike="noStrike" dirty="0" err="1">
                <a:effectLst/>
                <a:latin typeface="YS Text"/>
              </a:rPr>
              <a:t>admin.py</a:t>
            </a:r>
            <a:r>
              <a:rPr lang="en" b="0" i="0" u="none" strike="noStrike" dirty="0">
                <a:effectLst/>
                <a:latin typeface="YS Text"/>
              </a:rPr>
              <a:t> </a:t>
            </a:r>
          </a:p>
          <a:p>
            <a:pPr algn="l">
              <a:buNone/>
            </a:pPr>
            <a:endParaRPr lang="en" dirty="0">
              <a:latin typeface="YS Text"/>
            </a:endParaRPr>
          </a:p>
          <a:p>
            <a:pPr algn="l">
              <a:buNone/>
            </a:pPr>
            <a:endParaRPr lang="en" b="0" i="0" u="none" strike="noStrike" dirty="0">
              <a:effectLst/>
              <a:latin typeface="YS Tex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5D8204-26DA-CF4E-AB55-066D31A0D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90" y="2641370"/>
            <a:ext cx="4089400" cy="19939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C62C03-C66E-5B59-7033-D414DDB34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860" y="3039157"/>
            <a:ext cx="6019800" cy="2857500"/>
          </a:xfrm>
          <a:prstGeom prst="rect">
            <a:avLst/>
          </a:prstGeom>
        </p:spPr>
      </p:pic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DBE39579-D351-C680-8CE9-327F0AE6926E}"/>
              </a:ext>
            </a:extLst>
          </p:cNvPr>
          <p:cNvSpPr/>
          <p:nvPr/>
        </p:nvSpPr>
        <p:spPr>
          <a:xfrm>
            <a:off x="4925720" y="3638320"/>
            <a:ext cx="803051" cy="11760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66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D4EE-0DF0-FBCD-44A7-AE0ECBDD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95DBE-6511-990A-CED0-105581E4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" b="1" i="0" u="none" strike="noStrike" dirty="0">
                <a:effectLst/>
                <a:latin typeface="YS Text"/>
              </a:rPr>
              <a:t>SELECT </a:t>
            </a:r>
            <a:r>
              <a:rPr lang="ru-RU" b="1" i="0" u="none" strike="noStrike" dirty="0">
                <a:effectLst/>
                <a:latin typeface="YS Text"/>
              </a:rPr>
              <a:t>и </a:t>
            </a:r>
            <a:r>
              <a:rPr lang="en" b="1" i="0" u="none" strike="noStrike" dirty="0">
                <a:effectLst/>
                <a:latin typeface="YS Text"/>
              </a:rPr>
              <a:t>FROM </a:t>
            </a:r>
            <a:r>
              <a:rPr lang="ru-RU" b="1" i="0" u="none" strike="noStrike" dirty="0">
                <a:effectLst/>
                <a:latin typeface="YS Text"/>
              </a:rPr>
              <a:t>через </a:t>
            </a:r>
            <a:r>
              <a:rPr lang="en" b="1" i="0" u="none" strike="noStrike" dirty="0">
                <a:effectLst/>
                <a:latin typeface="YS Text"/>
              </a:rPr>
              <a:t>ORM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2487C9CE-3256-81FD-ADDA-17F96379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7CAA23-151A-781F-64B1-F4BAF61E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0090"/>
            <a:ext cx="8034127" cy="51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90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0953-782B-673D-9F9E-7139CAF8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2310A-11B7-BC5D-56E2-49A3957F3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" b="1" i="0" u="none" strike="noStrike" dirty="0">
                <a:effectLst/>
                <a:latin typeface="YS Text"/>
              </a:rPr>
              <a:t>SELECT </a:t>
            </a:r>
            <a:r>
              <a:rPr lang="ru-RU" b="1" i="0" u="none" strike="noStrike" dirty="0">
                <a:effectLst/>
                <a:latin typeface="YS Text"/>
              </a:rPr>
              <a:t>и </a:t>
            </a:r>
            <a:r>
              <a:rPr lang="en" b="1" i="0" u="none" strike="noStrike" dirty="0">
                <a:effectLst/>
                <a:latin typeface="YS Text"/>
              </a:rPr>
              <a:t>FROM </a:t>
            </a:r>
            <a:r>
              <a:rPr lang="ru-RU" b="1" i="0" u="none" strike="noStrike" dirty="0">
                <a:effectLst/>
                <a:latin typeface="YS Text"/>
              </a:rPr>
              <a:t>через </a:t>
            </a:r>
            <a:r>
              <a:rPr lang="en" b="1" i="0" u="none" strike="noStrike" dirty="0">
                <a:effectLst/>
                <a:latin typeface="YS Text"/>
              </a:rPr>
              <a:t>ORM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01F9D604-62B9-87E5-2424-B7D870C7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24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D6098C-24AF-BBEB-D298-1B3DBD3F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03" y="1345413"/>
            <a:ext cx="4637949" cy="286709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22BF5F-F8D3-D11F-325A-4E5C855B7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582" y="1474460"/>
            <a:ext cx="3886200" cy="17018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2B4E4B-4740-8734-A653-6CC4E3AA4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582" y="3720600"/>
            <a:ext cx="5703218" cy="2635750"/>
          </a:xfrm>
          <a:prstGeom prst="rect">
            <a:avLst/>
          </a:prstGeom>
        </p:spPr>
      </p:pic>
      <p:sp>
        <p:nvSpPr>
          <p:cNvPr id="8" name="Плюс 7">
            <a:extLst>
              <a:ext uri="{FF2B5EF4-FFF2-40B4-BE49-F238E27FC236}">
                <a16:creationId xmlns:a16="http://schemas.microsoft.com/office/drawing/2014/main" id="{2BAD7DA8-1B1D-16EB-C54C-22E77B881654}"/>
              </a:ext>
            </a:extLst>
          </p:cNvPr>
          <p:cNvSpPr/>
          <p:nvPr/>
        </p:nvSpPr>
        <p:spPr>
          <a:xfrm>
            <a:off x="5369527" y="1797605"/>
            <a:ext cx="815248" cy="74914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E076429B-ED03-F53E-EB04-3B8069E3F0C9}"/>
              </a:ext>
            </a:extLst>
          </p:cNvPr>
          <p:cNvSpPr/>
          <p:nvPr/>
        </p:nvSpPr>
        <p:spPr>
          <a:xfrm rot="3174584">
            <a:off x="6693290" y="3313893"/>
            <a:ext cx="518867" cy="3121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489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F5E3-D738-AD4E-3F3D-4E5AB4DE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3892B-09FE-607F-456F-57789E13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" b="1" i="0" u="none" strike="noStrike" dirty="0">
                <a:effectLst/>
                <a:latin typeface="YS Text"/>
              </a:rPr>
              <a:t>SELECT </a:t>
            </a:r>
            <a:r>
              <a:rPr lang="ru-RU" b="1" i="0" u="none" strike="noStrike" dirty="0">
                <a:effectLst/>
                <a:latin typeface="YS Text"/>
              </a:rPr>
              <a:t>и </a:t>
            </a:r>
            <a:r>
              <a:rPr lang="en" b="1" i="0" u="none" strike="noStrike" dirty="0">
                <a:effectLst/>
                <a:latin typeface="YS Text"/>
              </a:rPr>
              <a:t>FROM </a:t>
            </a:r>
            <a:r>
              <a:rPr lang="ru-RU" b="1" i="0" u="none" strike="noStrike" dirty="0">
                <a:effectLst/>
                <a:latin typeface="YS Text"/>
              </a:rPr>
              <a:t>через </a:t>
            </a:r>
            <a:r>
              <a:rPr lang="en" b="1" i="0" u="none" strike="noStrike" dirty="0">
                <a:effectLst/>
                <a:latin typeface="YS Text"/>
              </a:rPr>
              <a:t>ORM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961CB648-EA30-AE8D-0FE9-0CF5606B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3650E0-6E73-5DD7-4D0B-748C60285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0" y="1938969"/>
            <a:ext cx="6098504" cy="422586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6036828-B063-12B3-4993-5C5A8FA3198D}"/>
              </a:ext>
            </a:extLst>
          </p:cNvPr>
          <p:cNvSpPr/>
          <p:nvPr/>
        </p:nvSpPr>
        <p:spPr>
          <a:xfrm>
            <a:off x="6960565" y="1938969"/>
            <a:ext cx="49135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dirty="0">
                <a:latin typeface="YS Text"/>
              </a:rPr>
              <a:t>Можно в самом шаблоне обращаться к полям и выводить данные </a:t>
            </a:r>
            <a:endParaRPr lang="en" b="0" i="0" u="none" strike="noStrike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95897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будут лабораторные работы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992346"/>
            <a:ext cx="99649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>
                <a:latin typeface="Consolas" panose="020B0609020204030204" pitchFamily="49" charset="0"/>
                <a:cs typeface="Consolas" panose="020B0609020204030204" pitchFamily="49" charset="0"/>
              </a:rPr>
              <a:t>/grand-roman/WEBKHSU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337590-4068-F546-8C70-46D48FEE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180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1850</Words>
  <Application>Microsoft Macintosh PowerPoint</Application>
  <PresentationFormat>Широкоэкранный</PresentationFormat>
  <Paragraphs>197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Arial</vt:lpstr>
      <vt:lpstr>BM HANNA 11yrs old OTF</vt:lpstr>
      <vt:lpstr>Calibri</vt:lpstr>
      <vt:lpstr>Calibri Light</vt:lpstr>
      <vt:lpstr>Consolas</vt:lpstr>
      <vt:lpstr>spectral</vt:lpstr>
      <vt:lpstr>Times New Roman</vt:lpstr>
      <vt:lpstr>YS Text</vt:lpstr>
      <vt:lpstr>Тема Office</vt:lpstr>
      <vt:lpstr>Web-технологии</vt:lpstr>
      <vt:lpstr>Система управления базами данных</vt:lpstr>
      <vt:lpstr>Реляционные базы данных</vt:lpstr>
      <vt:lpstr>Реляционные базы данных</vt:lpstr>
      <vt:lpstr>SQL: язык структурированных запросов</vt:lpstr>
      <vt:lpstr>SQL: язык структурированных запросов</vt:lpstr>
      <vt:lpstr>Отношения между таблицами</vt:lpstr>
      <vt:lpstr>Отношения «один к одному»</vt:lpstr>
      <vt:lpstr>Отношения «многие к одному»</vt:lpstr>
      <vt:lpstr>Отношения между таблицами. Многие ко многим </vt:lpstr>
      <vt:lpstr>Описание таблиц с помощью классов</vt:lpstr>
      <vt:lpstr>Первый этап: подключение БД к Django-проекту</vt:lpstr>
      <vt:lpstr>Типы полей в Django</vt:lpstr>
      <vt:lpstr>Первая модель для первой таблицы</vt:lpstr>
      <vt:lpstr>Описание связей между моделями</vt:lpstr>
      <vt:lpstr>Описание связей между моделями</vt:lpstr>
      <vt:lpstr>Описание связей между моделями</vt:lpstr>
      <vt:lpstr>Миграции</vt:lpstr>
      <vt:lpstr>Миграции</vt:lpstr>
      <vt:lpstr>Создание суперпользователя</vt:lpstr>
      <vt:lpstr>Добро пожаловать в админ-зону!</vt:lpstr>
      <vt:lpstr>Добавление моделей в админ-панель</vt:lpstr>
      <vt:lpstr>SELECT и FROM через ORM</vt:lpstr>
      <vt:lpstr>SELECT и FROM через ORM</vt:lpstr>
      <vt:lpstr>SELECT и FROM через ORM</vt:lpstr>
      <vt:lpstr>Где будут лабораторные работы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Web-технологии</dc:title>
  <dc:creator>Microsoft Office User</dc:creator>
  <cp:lastModifiedBy>Microsoft Office User</cp:lastModifiedBy>
  <cp:revision>37</cp:revision>
  <dcterms:created xsi:type="dcterms:W3CDTF">2025-02-07T13:57:58Z</dcterms:created>
  <dcterms:modified xsi:type="dcterms:W3CDTF">2026-04-08T04:32:43Z</dcterms:modified>
</cp:coreProperties>
</file>