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7" r:id="rId4"/>
    <p:sldId id="266" r:id="rId5"/>
    <p:sldId id="258" r:id="rId6"/>
    <p:sldId id="259" r:id="rId7"/>
    <p:sldId id="260" r:id="rId8"/>
    <p:sldId id="268" r:id="rId9"/>
    <p:sldId id="269" r:id="rId10"/>
    <p:sldId id="270" r:id="rId11"/>
    <p:sldId id="271" r:id="rId12"/>
    <p:sldId id="261" r:id="rId13"/>
    <p:sldId id="262" r:id="rId14"/>
    <p:sldId id="272" r:id="rId15"/>
    <p:sldId id="273" r:id="rId16"/>
    <p:sldId id="274" r:id="rId17"/>
    <p:sldId id="264" r:id="rId18"/>
    <p:sldId id="265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48"/>
    <p:restoredTop sz="94721"/>
  </p:normalViewPr>
  <p:slideViewPr>
    <p:cSldViewPr snapToGrid="0" snapToObjects="1">
      <p:cViewPr varScale="1">
        <p:scale>
          <a:sx n="147" d="100"/>
          <a:sy n="147" d="100"/>
        </p:scale>
        <p:origin x="224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59D23-995A-5C40-8E40-2A0DEDDC56B2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7FC1A-62DF-F94B-95E2-EFE9477F0B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306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6F83C-19BC-234D-B7DD-52EFE7EFE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D52901-744B-FE4A-9887-0B4551F61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7F1DD-19D7-8143-A6F5-272463B1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8EF4-B7A5-E645-BAD4-16304AFEF7A2}" type="datetime1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FC3CFD-13FC-B743-9C1E-A52D560B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C6C2DB-695A-EE42-88E9-14F483B3B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185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F9F7A-E882-6441-A3F3-D8CCCBA7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220757-5EC2-B14A-8752-0FBA0EB72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4A9174-6EB2-B745-BEE3-A5B76575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BA913-B5D8-644B-9DF1-FAA12DCA1373}" type="datetime1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191DC5-0F2A-F943-84BF-D4E8E61EF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8139BE-DBB0-0C4A-B4CE-05A12D26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69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4F1C0-0DA9-CE41-B448-98465EED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FBEE4D-4952-D348-9753-39BEFC58C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9721A1-30CC-AF49-A65E-73146E14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FE78-B8C9-9345-9E20-42027A2C2BCF}" type="datetime1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930146-6DF1-3C42-B9DD-5233499D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B9BEE0-F835-D343-8446-31CC451A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4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5C238-1D79-FD4B-9344-ADF965A6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80D786-D0F9-474A-A20D-AEFA4F1B7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33BD19-9922-B34B-96AB-68514E500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11F2D1-9168-E04F-83E8-53AF9D91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B37C-A8F0-D04B-96F6-8ECCD748D203}" type="datetime1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B9B3B7-0D40-454C-8AFD-59F88AD8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C56D33-F018-464E-A16D-B90530EE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65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53AE1-BA27-2E4F-8978-DCF46DAE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8F43BB-F83A-184D-B279-D3BC7EFED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D697D7-F73A-9145-92AD-C6112184B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DD733D-01F2-3540-ABC1-6F7B7E5FC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3D2EEE-6914-184C-9719-8D85B3F61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9B7087C-1541-444A-8670-801FD7F2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80DB2-86D0-8F41-BF0F-6AD758615A83}" type="datetime1">
              <a:rPr lang="ru-RU" smtClean="0"/>
              <a:t>01.02.2026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574A09-3C15-F64F-8159-2A2EC7D35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61A9BD-4D5A-144B-9FDA-001371DD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07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4DDB9-CC17-FC4A-9455-2FE57F46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BD3AC6-5B47-1E42-A9D3-CB7F0F5E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CADC4-747C-B840-9E78-4EC6A1173D8F}" type="datetime1">
              <a:rPr lang="ru-RU" smtClean="0"/>
              <a:t>01.02.2026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16DF23-9F65-4941-9E73-713C1193C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B61F16-192A-8947-915A-8EB484D1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11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3993C7-11D5-D644-9F4E-E79250B9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F9CD8-69B9-184B-BEF2-E15A1A6BD144}" type="datetime1">
              <a:rPr lang="ru-RU" smtClean="0"/>
              <a:t>01.02.2026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ADB89B-C355-B94F-A958-4F8D63EE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030931-A351-9143-B234-CF83DFEC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12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7F627B-28E3-794E-A50D-FC3419726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E4B107-B3B7-0940-BAC4-B505FF124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EA3BE8-4A70-7C43-B931-85E64BE93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90E174-D20D-6D4C-B6F1-BB6CD0CA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CDE0-90A8-4E42-8CBC-B5A612C5A232}" type="datetime1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D78E2A-053B-1F47-B597-22247ACC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6E5453-86A4-F740-B283-2BB1F9E0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810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0E2FB-1B5D-D246-8C7A-0F7233A4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89440EE-D697-3846-99A1-CF6151AD5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326109-D930-EE44-ABF0-3EF3EC2F3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DD8D70-D3E5-F84D-9A0A-1C0D8F60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FF8C-483D-0E46-A85F-F0031407D124}" type="datetime1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439217-06F2-FA40-8F97-9DB25612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21B61C-2D07-3C45-81B9-3EAAD5D0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44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C510A-DA09-624E-ACDD-BACECEB3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013BAF-3176-4742-BFF2-9A13902B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DB59F7-023B-6D41-BD74-1CBA5A9B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84C0C-FDFE-1D41-A8A1-D3A20A2CC7E9}" type="datetime1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901417-D45A-6442-A63C-38301977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71CA0F-C2DF-134C-870B-AD748A81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92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9ADD42-F2BD-3745-A49B-3F2FDCB6A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E2A924-3113-5E47-B3A2-590FEA3E4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DCFEFA-FB45-324E-A0F2-DABE81DC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70991-19BE-504C-8500-A9F611611E8B}" type="datetime1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F8D8A4-DC77-A04D-9B6F-04BE88280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FC3091-CE8E-AA40-9039-05C349AD6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78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4650A-EF6D-AC45-846C-2BE7C614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651BDB-C15C-3B4A-833B-C3441CD2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31C842-642C-384F-947C-2A7D610D7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ED625-D3F7-6E47-9DB0-29376AC6D566}" type="datetime1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829627-CC48-004C-851B-BE19B2131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B7C679-103B-3C4D-AF94-D9C7F4959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15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ya.ru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yandex.ru/search/?text=%D1%87%D1%82%D0%BE%20%D1%82%D0%B0%D0%BA%D0%BE%D0%B5%20backend&amp;lr=213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a.ru/whit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ttr.in/?u" TargetMode="External"/><Relationship Id="rId2" Type="http://schemas.openxmlformats.org/officeDocument/2006/relationships/hyperlink" Target="http://wttr.i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174CC-0410-9442-B9B4-3EE8D105A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C5A24F-285A-CB48-9DC0-916DBCB22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1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590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 мне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C91FF-B007-2B41-B65C-BCD1F158B35D}"/>
              </a:ext>
            </a:extLst>
          </p:cNvPr>
          <p:cNvSpPr txBox="1"/>
          <p:nvPr/>
        </p:nvSpPr>
        <p:spPr>
          <a:xfrm>
            <a:off x="852421" y="1817010"/>
            <a:ext cx="640685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Ведущий </a:t>
            </a:r>
            <a:r>
              <a:rPr lang="e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Умскул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(официальный партнер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VK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Ревьюер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 по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компаниях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Skillbox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Яндекс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Практикум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FA0290F-3E2B-F148-A98C-F61374404332}"/>
              </a:ext>
            </a:extLst>
          </p:cNvPr>
          <p:cNvSpPr/>
          <p:nvPr/>
        </p:nvSpPr>
        <p:spPr>
          <a:xfrm>
            <a:off x="838200" y="1690688"/>
            <a:ext cx="22962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Роман Андреев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476AF4-E20B-7848-8193-AF3F8E03C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274" y="3866357"/>
            <a:ext cx="1117132" cy="558566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DA28C88C-55FB-174A-BF58-870C4A89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</a:t>
            </a:fld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13BCE9F-43CB-7C4E-AD3A-8CB54B2870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460" b="32105"/>
          <a:stretch/>
        </p:blipFill>
        <p:spPr>
          <a:xfrm>
            <a:off x="3466346" y="4571509"/>
            <a:ext cx="2009595" cy="42812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74E93AA-80F2-384A-9053-B75A2C731D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966" t="29872" r="13897" b="32573"/>
          <a:stretch/>
        </p:blipFill>
        <p:spPr>
          <a:xfrm>
            <a:off x="5446496" y="2411259"/>
            <a:ext cx="1600419" cy="47525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E4007B-9D14-4E4A-9230-3BE28CC36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2107" y="835759"/>
            <a:ext cx="3798355" cy="506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6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Что вас ждёт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88100B-70B1-FD4D-9457-4690B3705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88" y="1248936"/>
            <a:ext cx="5868009" cy="340344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80E5523-B1A6-8F4A-8313-905EFA552A19}"/>
              </a:ext>
            </a:extLst>
          </p:cNvPr>
          <p:cNvSpPr/>
          <p:nvPr/>
        </p:nvSpPr>
        <p:spPr>
          <a:xfrm>
            <a:off x="6175597" y="1248936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Этот семестр: ключевые 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ООП (</a:t>
            </a:r>
            <a:r>
              <a:rPr lang="en" dirty="0"/>
              <a:t>OOP): </a:t>
            </a:r>
            <a:r>
              <a:rPr lang="ru-RU" dirty="0"/>
              <a:t>классы, объекты, наследование, инкапсуляция, полиморфизм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API: </a:t>
            </a:r>
            <a:r>
              <a:rPr lang="ru-RU" dirty="0"/>
              <a:t>запросы/ответы, </a:t>
            </a:r>
            <a:r>
              <a:rPr lang="en" dirty="0"/>
              <a:t>REST, JSON, </a:t>
            </a:r>
            <a:r>
              <a:rPr lang="ru-RU" dirty="0"/>
              <a:t>интеграция сервисов, создание своего </a:t>
            </a:r>
            <a:r>
              <a:rPr lang="en" dirty="0"/>
              <a:t>API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Flask: </a:t>
            </a:r>
            <a:r>
              <a:rPr lang="ru-RU" dirty="0"/>
              <a:t>маршрутизация (</a:t>
            </a:r>
            <a:r>
              <a:rPr lang="en" dirty="0"/>
              <a:t>routes), </a:t>
            </a:r>
            <a:r>
              <a:rPr lang="ru-RU" dirty="0"/>
              <a:t>обработчики (</a:t>
            </a:r>
            <a:r>
              <a:rPr lang="en" dirty="0"/>
              <a:t>views), </a:t>
            </a:r>
            <a:r>
              <a:rPr lang="ru-RU" dirty="0"/>
              <a:t>шаблоны, простые веб‑приложения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Django: MVC/MVT, ORM (</a:t>
            </a:r>
            <a:r>
              <a:rPr lang="ru-RU" dirty="0"/>
              <a:t>модели), миграции, админ‑панель, шаблоны, формы, авторизация</a:t>
            </a:r>
          </a:p>
        </p:txBody>
      </p:sp>
    </p:spTree>
    <p:extLst>
      <p:ext uri="{BB962C8B-B14F-4D97-AF65-F5344CB8AC3E}">
        <p14:creationId xmlns:p14="http://schemas.microsoft.com/office/powerpoint/2010/main" val="15589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Учим писать </a:t>
            </a:r>
            <a:r>
              <a:rPr lang="ru-RU" b="1" dirty="0" err="1"/>
              <a:t>бэкенд</a:t>
            </a:r>
            <a:r>
              <a:rPr lang="ru-RU" b="1" dirty="0"/>
              <a:t> на </a:t>
            </a:r>
            <a:r>
              <a:rPr lang="en" b="1" dirty="0"/>
              <a:t>Python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4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44751D0-C195-2343-9227-371E16700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9" y="1281263"/>
            <a:ext cx="8401521" cy="394634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67818F-6E2C-F842-9262-54910451C233}"/>
              </a:ext>
            </a:extLst>
          </p:cNvPr>
          <p:cNvSpPr/>
          <p:nvPr/>
        </p:nvSpPr>
        <p:spPr>
          <a:xfrm>
            <a:off x="8512098" y="1366265"/>
            <a:ext cx="347082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/>
              <a:t>Python — </a:t>
            </a:r>
            <a:r>
              <a:rPr lang="ru-RU" dirty="0"/>
              <a:t>популярный язык программирования, он хорош для начинающих разработчиков и применяется во многих сферах, от машинного обучения до создания игр и проведения научных исследований. </a:t>
            </a:r>
          </a:p>
          <a:p>
            <a:r>
              <a:rPr lang="ru-RU" dirty="0"/>
              <a:t>Возможно, вы храните свои файлы в Яндекс Диске</a:t>
            </a:r>
            <a:r>
              <a:rPr lang="en" dirty="0"/>
              <a:t>, </a:t>
            </a:r>
            <a:r>
              <a:rPr lang="ru-RU" dirty="0"/>
              <a:t>смотрите фильмы на </a:t>
            </a:r>
            <a:r>
              <a:rPr lang="ru-RU" dirty="0" err="1"/>
              <a:t>Кинопоиске</a:t>
            </a:r>
            <a:r>
              <a:rPr lang="en" dirty="0"/>
              <a:t>, </a:t>
            </a:r>
            <a:r>
              <a:rPr lang="ru-RU" dirty="0"/>
              <a:t>слушаете музыку в </a:t>
            </a:r>
            <a:r>
              <a:rPr lang="en-US" dirty="0"/>
              <a:t>VK </a:t>
            </a:r>
            <a:r>
              <a:rPr lang="ru-RU" dirty="0"/>
              <a:t>музыке</a:t>
            </a:r>
            <a:r>
              <a:rPr lang="en" dirty="0"/>
              <a:t> </a:t>
            </a:r>
            <a:r>
              <a:rPr lang="ru-RU" dirty="0"/>
              <a:t>или смотрите картинки в </a:t>
            </a:r>
            <a:r>
              <a:rPr lang="en" dirty="0"/>
              <a:t>Pinterest. </a:t>
            </a:r>
            <a:endParaRPr lang="ru-RU" dirty="0"/>
          </a:p>
          <a:p>
            <a:r>
              <a:rPr lang="ru-RU" dirty="0" err="1"/>
              <a:t>Бэкенд</a:t>
            </a:r>
            <a:r>
              <a:rPr lang="ru-RU" dirty="0"/>
              <a:t> этих веб-сервисов частично или полностью написан на </a:t>
            </a:r>
            <a:r>
              <a:rPr lang="en" dirty="0"/>
              <a:t>Python. </a:t>
            </a:r>
          </a:p>
          <a:p>
            <a:br>
              <a:rPr lang="en" sz="1600" dirty="0"/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038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FA0290F-3E2B-F148-A98C-F61374404332}"/>
              </a:ext>
            </a:extLst>
          </p:cNvPr>
          <p:cNvSpPr/>
          <p:nvPr/>
        </p:nvSpPr>
        <p:spPr>
          <a:xfrm>
            <a:off x="2162306" y="4660026"/>
            <a:ext cx="78673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компьютер, подключённый к Сети и настроенный так, </a:t>
            </a: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принимать запросы пользователей и возвращать им ответы.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может быть </a:t>
            </a:r>
            <a:r>
              <a:rPr lang="ru-RU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 где угодно: </a:t>
            </a: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специально оборудованном дата-центре, где сотни таких серверов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9FAAA12-1DF0-0C4C-A6E2-0BAFFD7D6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480" y="1701799"/>
            <a:ext cx="4134760" cy="2149534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200" y="1697972"/>
            <a:ext cx="29008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 часть сайта, которая видна посетителю, — это </a:t>
            </a:r>
            <a:r>
              <a:rPr lang="ru-RU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им занимаются </a:t>
            </a:r>
            <a:r>
              <a:rPr lang="ru-RU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</a:t>
            </a:r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-разработчики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Посетитель взаимодействует </a:t>
            </a:r>
          </a:p>
          <a:p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фронтендом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сайта и с его помощью отправляет </a:t>
            </a:r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сервер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BE0CD6A-9F9E-B84B-A629-9DD06A1764C8}"/>
              </a:ext>
            </a:extLst>
          </p:cNvPr>
          <p:cNvSpPr/>
          <p:nvPr/>
        </p:nvSpPr>
        <p:spPr>
          <a:xfrm>
            <a:off x="7956701" y="1697972"/>
            <a:ext cx="388665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на сервере работают программы, которые называют </a:t>
            </a:r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бэкенд</a:t>
            </a:r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сайта». 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Эти программы выполняют множество невидимых пользователю </a:t>
            </a:r>
            <a:r>
              <a:rPr lang="ru-RU" sz="1600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операций: 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принимают и обрабатывают запросы, сохраняют информацию в базу данных, проводят вычисления, создают веб-страницы.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87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200" y="142860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для обмена данными в интернете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74F075-6A77-5745-A134-4270E542D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62" y="1797939"/>
            <a:ext cx="10432506" cy="2997433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5B5D1F-DF4F-A447-9E8C-B2FD79DC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6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461A8AA-EC7D-B346-8068-81C4F653EEF0}"/>
              </a:ext>
            </a:extLst>
          </p:cNvPr>
          <p:cNvSpPr/>
          <p:nvPr/>
        </p:nvSpPr>
        <p:spPr>
          <a:xfrm>
            <a:off x="646770" y="4045420"/>
            <a:ext cx="106308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Интернет состоит из компьютеров. Программисты называют их на своём жаргоне «машины». Специальные машины — серверы — существуют для хранения информации и обработки запросов от клиентов. Браузеры на машинах пользователей называются клиенты. По команде пользователя клиент шлёт на сервер запрос. Чтобы серверы и клиенты понимали друг друга, производители сетевого оборудования и разработчики программ договорились, как именно будет передаваться информация. Такие договорённости называются протоколы.</a:t>
            </a:r>
          </a:p>
        </p:txBody>
      </p:sp>
    </p:spTree>
    <p:extLst>
      <p:ext uri="{BB962C8B-B14F-4D97-AF65-F5344CB8AC3E}">
        <p14:creationId xmlns:p14="http://schemas.microsoft.com/office/powerpoint/2010/main" val="2262257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198" y="1690688"/>
            <a:ext cx="81304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верхнеуровневый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протокол, который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клиенту (браузеру) запрашивать данные с сервера.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95AF9AB-218D-D54C-8D6C-D826166F5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26" y="2396321"/>
            <a:ext cx="5966567" cy="414259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10D1CB-0DCD-874D-8026-C52F2F179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67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Протокол </a:t>
            </a:r>
            <a:r>
              <a:rPr lang="en" b="1" dirty="0"/>
              <a:t>HTTP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199" y="1415625"/>
            <a:ext cx="108334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Адрес сайта в интернете обычно начинается с букв </a:t>
            </a:r>
            <a:r>
              <a:rPr lang="en" b="1" dirty="0"/>
              <a:t>http</a:t>
            </a:r>
            <a:r>
              <a:rPr lang="en" dirty="0"/>
              <a:t>, </a:t>
            </a:r>
            <a:r>
              <a:rPr lang="ru-RU" dirty="0"/>
              <a:t>потому что протокол </a:t>
            </a:r>
            <a:r>
              <a:rPr lang="en" dirty="0"/>
              <a:t>HTTP — </a:t>
            </a:r>
            <a:r>
              <a:rPr lang="ru-RU" dirty="0"/>
              <a:t>самый популярный. Всякий раз, когда вы открываете браузер и вводите в адресную строку адрес какой-нибудь веб-страницы (например, </a:t>
            </a:r>
            <a:r>
              <a:rPr lang="en" i="1" dirty="0">
                <a:hlinkClick r:id="rId2"/>
              </a:rPr>
              <a:t>https://ya.ru</a:t>
            </a:r>
            <a:r>
              <a:rPr lang="en" dirty="0"/>
              <a:t>) — </a:t>
            </a:r>
            <a:r>
              <a:rPr lang="ru-RU" dirty="0"/>
              <a:t>содержимое страницы загружается по протоколу </a:t>
            </a:r>
            <a:r>
              <a:rPr lang="en" dirty="0"/>
              <a:t>HTTP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4FD14C-C896-9B4B-AB52-198BE38E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8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B6FDE5-0363-F541-A7BC-2F86E37F5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372" y="2741188"/>
            <a:ext cx="5524809" cy="279344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58344B-3DCD-5445-BDA4-BF82B8DB3826}"/>
              </a:ext>
            </a:extLst>
          </p:cNvPr>
          <p:cNvSpPr/>
          <p:nvPr/>
        </p:nvSpPr>
        <p:spPr>
          <a:xfrm>
            <a:off x="7255726" y="2706748"/>
            <a:ext cx="35460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Из интернета можно загрузить не только веб-страницы, но и другие объекты — например, картинки, видео, файлы. Адресу каждого объекта в интернете соответствует особое имя — </a:t>
            </a:r>
            <a:r>
              <a:rPr lang="ru-RU" b="1" dirty="0"/>
              <a:t>URL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5781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Протокол </a:t>
            </a:r>
            <a:r>
              <a:rPr lang="en" b="1" dirty="0"/>
              <a:t>HTTP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199" y="1415625"/>
            <a:ext cx="108334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мы спросим у Яндекса, что такое </a:t>
            </a:r>
            <a:r>
              <a:rPr lang="en" i="1" dirty="0"/>
              <a:t>backend</a:t>
            </a:r>
            <a:r>
              <a:rPr lang="en" dirty="0"/>
              <a:t>, </a:t>
            </a:r>
            <a:r>
              <a:rPr lang="ru-RU" dirty="0"/>
              <a:t>то результаты поиска будут доступны по </a:t>
            </a:r>
            <a:r>
              <a:rPr lang="en" dirty="0"/>
              <a:t>URL </a:t>
            </a:r>
            <a:r>
              <a:rPr lang="en" dirty="0">
                <a:hlinkClick r:id="rId2"/>
              </a:rPr>
              <a:t>https://yandex.ru/search/?text=</a:t>
            </a:r>
            <a:r>
              <a:rPr lang="ru-RU" dirty="0">
                <a:hlinkClick r:id="rId2"/>
              </a:rPr>
              <a:t>что%20такое%20</a:t>
            </a:r>
            <a:r>
              <a:rPr lang="en" dirty="0">
                <a:hlinkClick r:id="rId2"/>
              </a:rPr>
              <a:t>backend&amp;lr=213</a:t>
            </a:r>
            <a:r>
              <a:rPr lang="en" dirty="0"/>
              <a:t> 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4FD14C-C896-9B4B-AB52-198BE38E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9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58344B-3DCD-5445-BDA4-BF82B8DB3826}"/>
              </a:ext>
            </a:extLst>
          </p:cNvPr>
          <p:cNvSpPr/>
          <p:nvPr/>
        </p:nvSpPr>
        <p:spPr>
          <a:xfrm>
            <a:off x="7787267" y="2297462"/>
            <a:ext cx="37356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Ваш вопрос «что такое </a:t>
            </a:r>
            <a:r>
              <a:rPr lang="en" dirty="0"/>
              <a:t>backend» </a:t>
            </a:r>
            <a:r>
              <a:rPr lang="ru-RU" dirty="0"/>
              <a:t>браузер превращает в </a:t>
            </a:r>
            <a:r>
              <a:rPr lang="en" b="1" dirty="0"/>
              <a:t>HTTP-</a:t>
            </a:r>
            <a:r>
              <a:rPr lang="ru-RU" b="1" dirty="0"/>
              <a:t>запрос</a:t>
            </a:r>
            <a:r>
              <a:rPr lang="ru-RU" dirty="0"/>
              <a:t>, который направляет серверу Яндекса.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Сервер Яндекса, получив </a:t>
            </a:r>
            <a:r>
              <a:rPr lang="en" dirty="0"/>
              <a:t>HTTP-</a:t>
            </a:r>
            <a:r>
              <a:rPr lang="ru-RU" dirty="0"/>
              <a:t>запрос от клиента, совершает особую серверную магию (производит необходимые действия) и возвращает </a:t>
            </a:r>
            <a:r>
              <a:rPr lang="en" b="1" dirty="0"/>
              <a:t>HTTP-</a:t>
            </a:r>
            <a:r>
              <a:rPr lang="ru-RU" b="1" dirty="0"/>
              <a:t>ответ</a:t>
            </a:r>
            <a:r>
              <a:rPr lang="ru-RU" dirty="0"/>
              <a:t>. </a:t>
            </a:r>
          </a:p>
          <a:p>
            <a:r>
              <a:rPr lang="ru-RU" dirty="0"/>
              <a:t>В данном случае это веб-страница с результатами поиска.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E6DB05-C491-6045-89E0-94525782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37" y="2297462"/>
            <a:ext cx="6605859" cy="336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44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Подробнее об </a:t>
            </a:r>
            <a:r>
              <a:rPr lang="en" b="1" dirty="0"/>
              <a:t>URL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199" y="1415625"/>
            <a:ext cx="108334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Адреса </a:t>
            </a:r>
            <a:r>
              <a:rPr lang="en" dirty="0"/>
              <a:t>URL </a:t>
            </a:r>
            <a:r>
              <a:rPr lang="ru-RU" dirty="0"/>
              <a:t>могут выглядеть очень коротко и просто, как </a:t>
            </a:r>
            <a:r>
              <a:rPr lang="en" dirty="0">
                <a:hlinkClick r:id="rId2"/>
              </a:rPr>
              <a:t>https://ya.ru/white</a:t>
            </a:r>
            <a:r>
              <a:rPr lang="en" dirty="0"/>
              <a:t>.</a:t>
            </a:r>
          </a:p>
          <a:p>
            <a:r>
              <a:rPr lang="ru-RU" dirty="0"/>
              <a:t>А могут длиннее и сложнее: когда мы искали в Яндексе информацию по запросу «что такое </a:t>
            </a:r>
            <a:r>
              <a:rPr lang="en" dirty="0"/>
              <a:t>backend», </a:t>
            </a:r>
            <a:r>
              <a:rPr lang="ru-RU" dirty="0"/>
              <a:t>то результаты поиска получили по адресу: </a:t>
            </a:r>
          </a:p>
          <a:p>
            <a:r>
              <a:rPr lang="en" i="1" u="sng" dirty="0"/>
              <a:t>https://</a:t>
            </a:r>
            <a:r>
              <a:rPr lang="en" i="1" u="sng" dirty="0" err="1"/>
              <a:t>yandex.ru</a:t>
            </a:r>
            <a:r>
              <a:rPr lang="en" i="1" u="sng" dirty="0"/>
              <a:t>/search/?text=</a:t>
            </a:r>
            <a:r>
              <a:rPr lang="ru-RU" i="1" u="sng" dirty="0"/>
              <a:t>что%20такое%20</a:t>
            </a:r>
            <a:r>
              <a:rPr lang="en" i="1" u="sng" dirty="0" err="1"/>
              <a:t>backend&amp;lr</a:t>
            </a:r>
            <a:r>
              <a:rPr lang="en" i="1" u="sng" dirty="0"/>
              <a:t>=213</a:t>
            </a:r>
            <a:endParaRPr lang="ru-RU" i="1" u="sng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4FD14C-C896-9B4B-AB52-198BE38E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10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9AF849-3C7C-F24B-AE38-182B8B9994D9}"/>
              </a:ext>
            </a:extLst>
          </p:cNvPr>
          <p:cNvSpPr/>
          <p:nvPr/>
        </p:nvSpPr>
        <p:spPr>
          <a:xfrm>
            <a:off x="1144858" y="2772060"/>
            <a:ext cx="698066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начале указывается протокол. Обычно это HTTP или HTTPS — расширение протокола HTTP.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yandex.ru</a:t>
            </a:r>
            <a:r>
              <a:rPr lang="ru-RU" dirty="0"/>
              <a:t> — имя сервера.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/</a:t>
            </a:r>
            <a:r>
              <a:rPr lang="ru-RU" dirty="0" err="1"/>
              <a:t>search</a:t>
            </a:r>
            <a:r>
              <a:rPr lang="ru-RU" dirty="0"/>
              <a:t>/ — идентификатор запрашиваемого ресурса на сервере. В этом примере мы обращаемся к сервису поиска.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После вопросительного знака могут идти параметры, они отделяются друг от друга символом &amp;. </a:t>
            </a:r>
          </a:p>
          <a:p>
            <a:r>
              <a:rPr lang="ru-RU" dirty="0"/>
              <a:t>В нашем случае серверу поиска были переданы два параметра: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text</a:t>
            </a:r>
            <a:r>
              <a:rPr lang="ru-RU" dirty="0"/>
              <a:t>, со значением что%20такое%20backend;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lr</a:t>
            </a:r>
            <a:r>
              <a:rPr lang="ru-RU" dirty="0"/>
              <a:t>, со значением 213.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Что значит </a:t>
            </a:r>
            <a:r>
              <a:rPr lang="ru-RU" dirty="0" err="1"/>
              <a:t>lr</a:t>
            </a:r>
            <a:r>
              <a:rPr lang="ru-RU" dirty="0"/>
              <a:t>, пользователю неважно — имена технических параметров в каждом поисковом сервисе свои.</a:t>
            </a:r>
          </a:p>
        </p:txBody>
      </p:sp>
    </p:spTree>
    <p:extLst>
      <p:ext uri="{BB962C8B-B14F-4D97-AF65-F5344CB8AC3E}">
        <p14:creationId xmlns:p14="http://schemas.microsoft.com/office/powerpoint/2010/main" val="202180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Кодирование </a:t>
            </a:r>
            <a:r>
              <a:rPr lang="en" b="1" dirty="0"/>
              <a:t>URL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199" y="1415625"/>
            <a:ext cx="108334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Разберёмся, что за странная последовательность %20 появилась в строке что%20такое%20</a:t>
            </a:r>
            <a:r>
              <a:rPr lang="en" dirty="0"/>
              <a:t>backend. </a:t>
            </a:r>
            <a:endParaRPr lang="ru-RU" dirty="0"/>
          </a:p>
          <a:p>
            <a:r>
              <a:rPr lang="ru-RU" dirty="0"/>
              <a:t>Почему было не поставить пробел между словами?</a:t>
            </a:r>
          </a:p>
          <a:p>
            <a:br>
              <a:rPr lang="ru-RU" dirty="0"/>
            </a:br>
            <a:endParaRPr lang="ru-RU" i="1" u="sng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4FD14C-C896-9B4B-AB52-198BE38E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11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9AF849-3C7C-F24B-AE38-182B8B9994D9}"/>
              </a:ext>
            </a:extLst>
          </p:cNvPr>
          <p:cNvSpPr/>
          <p:nvPr/>
        </p:nvSpPr>
        <p:spPr>
          <a:xfrm>
            <a:off x="838197" y="2087559"/>
            <a:ext cx="1051560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Согласно протоколу </a:t>
            </a:r>
            <a:r>
              <a:rPr lang="en" dirty="0"/>
              <a:t>HTTP, </a:t>
            </a:r>
            <a:r>
              <a:rPr lang="ru-RU" dirty="0"/>
              <a:t>в </a:t>
            </a:r>
            <a:r>
              <a:rPr lang="en" dirty="0"/>
              <a:t>URL </a:t>
            </a:r>
            <a:r>
              <a:rPr lang="ru-RU" dirty="0"/>
              <a:t>можно использовать только латинские буквы, цифры, дефисы, знак подчёркивания и некоторые другие спецсимволы. </a:t>
            </a:r>
          </a:p>
          <a:p>
            <a:r>
              <a:rPr lang="ru-RU" dirty="0"/>
              <a:t>Если в </a:t>
            </a:r>
            <a:r>
              <a:rPr lang="en" dirty="0"/>
              <a:t>URL </a:t>
            </a:r>
            <a:r>
              <a:rPr lang="ru-RU" dirty="0"/>
              <a:t>применяются какие-то </a:t>
            </a:r>
            <a:r>
              <a:rPr lang="ru-RU" b="1" u="sng" dirty="0"/>
              <a:t>запрещённые</a:t>
            </a:r>
            <a:r>
              <a:rPr lang="ru-RU" dirty="0"/>
              <a:t> символы — их кодируют с помощью «разрешённых». Для кодирования применяют специальные последовательности, где символы (буквы кириллицы, иероглифы, знаки препинания и спецсимволы… все возможные символы) кодируются комбинацией букв и цифр, перед которым ставится знак процента. </a:t>
            </a:r>
          </a:p>
          <a:p>
            <a:r>
              <a:rPr lang="ru-RU" u="sng" dirty="0"/>
              <a:t>Таким образо</a:t>
            </a:r>
            <a:r>
              <a:rPr lang="ru-RU" dirty="0"/>
              <a:t>м пробелы превращаются в </a:t>
            </a:r>
            <a:r>
              <a:rPr lang="ru-RU" b="1" u="sng" dirty="0"/>
              <a:t>%20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729763A-5977-BF4B-AE50-ECC17B9BBAC0}"/>
              </a:ext>
            </a:extLst>
          </p:cNvPr>
          <p:cNvSpPr/>
          <p:nvPr/>
        </p:nvSpPr>
        <p:spPr>
          <a:xfrm>
            <a:off x="838197" y="4407847"/>
            <a:ext cx="29978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URL страницы, на которой Яндекс покажет результаты поиска по этому запросу на </a:t>
            </a:r>
            <a:r>
              <a:rPr lang="en-US" dirty="0"/>
              <a:t>Python</a:t>
            </a:r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645E41E-B20E-6447-8384-95B0CC728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690" y="4395883"/>
            <a:ext cx="7062439" cy="121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31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Коды ответа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199" y="1690688"/>
            <a:ext cx="571917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ответа (состояния)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показывает,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 ли успешно выполнен определённый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запрос.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Коды сгруппированы в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классов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100–199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Успешные 200–299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Перенаправления 300–399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Клиентские ошибки 400–499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Серверные ошибки 500–599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931CC9-0F49-0C4F-9161-E93293546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552" y="1334022"/>
            <a:ext cx="2533873" cy="4969532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3DB6A1-7B99-7E45-8F20-0BFAE620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857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199" y="1690688"/>
            <a:ext cx="64018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запроса указывают,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какое желаемое действие выполнится для данного ресурса.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4C9260-3C0C-D348-BE61-B3F6B2DDA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640793"/>
            <a:ext cx="10582640" cy="3190074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4FD14C-C896-9B4B-AB52-198BE38E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84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" b="1" dirty="0"/>
              <a:t>Python </a:t>
            </a:r>
            <a:r>
              <a:rPr lang="ru-RU" b="1" dirty="0"/>
              <a:t>вместо браузера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200" y="1476292"/>
            <a:ext cx="10067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Общаться с серверами в интернете умеют не только браузеры. Можно написать собственный клиент на </a:t>
            </a:r>
            <a:r>
              <a:rPr lang="en" dirty="0"/>
              <a:t>Python, </a:t>
            </a:r>
            <a:r>
              <a:rPr lang="ru-RU" dirty="0"/>
              <a:t>используя библиотеку </a:t>
            </a:r>
            <a:r>
              <a:rPr lang="en" dirty="0"/>
              <a:t>requests.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4FD14C-C896-9B4B-AB52-198BE38E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14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B4AF89-4530-034D-A5D4-CBE7D4C22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50481"/>
            <a:ext cx="8708011" cy="268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7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Передаём параметры в </a:t>
            </a:r>
            <a:r>
              <a:rPr lang="en" b="1" dirty="0"/>
              <a:t>URL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199" y="1476292"/>
            <a:ext cx="107739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Вспомним поисковый запрос к Яндексу</a:t>
            </a:r>
            <a:r>
              <a:rPr lang="en-US" dirty="0"/>
              <a:t>. </a:t>
            </a:r>
            <a:r>
              <a:rPr lang="ru-RU" dirty="0"/>
              <a:t>Результаты поиска были доступны по адресу: </a:t>
            </a:r>
            <a:r>
              <a:rPr lang="en" dirty="0"/>
              <a:t>https://</a:t>
            </a:r>
            <a:r>
              <a:rPr lang="en" dirty="0" err="1"/>
              <a:t>yandex.ru</a:t>
            </a:r>
            <a:r>
              <a:rPr lang="en" dirty="0"/>
              <a:t>/search/?text=</a:t>
            </a:r>
            <a:r>
              <a:rPr lang="ru-RU" dirty="0"/>
              <a:t>что%20такое%20</a:t>
            </a:r>
            <a:r>
              <a:rPr lang="en" dirty="0" err="1"/>
              <a:t>backend&amp;lr</a:t>
            </a:r>
            <a:r>
              <a:rPr lang="en" dirty="0"/>
              <a:t>=213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4FD14C-C896-9B4B-AB52-198BE38E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15</a:t>
            </a:fld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2DE32EE-C74E-3344-886E-A9509813AD1E}"/>
              </a:ext>
            </a:extLst>
          </p:cNvPr>
          <p:cNvSpPr/>
          <p:nvPr/>
        </p:nvSpPr>
        <p:spPr>
          <a:xfrm>
            <a:off x="6311590" y="2356627"/>
            <a:ext cx="48619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/>
              <a:t>Python </a:t>
            </a:r>
            <a:r>
              <a:rPr lang="ru-RU" dirty="0"/>
              <a:t>умеет удобно формировать адреса </a:t>
            </a:r>
            <a:r>
              <a:rPr lang="en" dirty="0"/>
              <a:t>URL, </a:t>
            </a:r>
            <a:r>
              <a:rPr lang="ru-RU" dirty="0"/>
              <a:t>подставляя в них параметры из словаря. Функция </a:t>
            </a:r>
            <a:r>
              <a:rPr lang="en" dirty="0"/>
              <a:t>get() </a:t>
            </a:r>
            <a:r>
              <a:rPr lang="ru-RU" dirty="0"/>
              <a:t>сама производит нужные преобразования, нужно лишь передать параметры через именованный аргумент </a:t>
            </a:r>
            <a:r>
              <a:rPr lang="en" dirty="0" err="1"/>
              <a:t>params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5D446A-E255-FC40-ABD4-9E6249A8E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348683"/>
            <a:ext cx="5308969" cy="355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62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/>
              <a:t>Передаём параметры в </a:t>
            </a:r>
            <a:r>
              <a:rPr lang="en" b="1" dirty="0"/>
              <a:t>URL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6787376" y="1570742"/>
            <a:ext cx="482476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Бывают такие параметры, которым не нужно присваивать значение, а достаточно передать только имя. </a:t>
            </a:r>
            <a:endParaRPr lang="en-US" dirty="0"/>
          </a:p>
          <a:p>
            <a:r>
              <a:rPr lang="ru-RU" dirty="0"/>
              <a:t>Например, параметр </a:t>
            </a:r>
            <a:r>
              <a:rPr lang="en" b="1" dirty="0"/>
              <a:t>u</a:t>
            </a:r>
            <a:r>
              <a:rPr lang="en" dirty="0"/>
              <a:t> </a:t>
            </a:r>
            <a:r>
              <a:rPr lang="ru-RU" dirty="0"/>
              <a:t>сервиса </a:t>
            </a:r>
            <a:r>
              <a:rPr lang="en" dirty="0">
                <a:hlinkClick r:id="rId2"/>
              </a:rPr>
              <a:t>wttr.in</a:t>
            </a:r>
            <a:r>
              <a:rPr lang="en" dirty="0"/>
              <a:t> </a:t>
            </a:r>
            <a:r>
              <a:rPr lang="ru-RU" dirty="0"/>
              <a:t>переведёт все величины в английскую систему мер (градусы Фаренгейта, мили, дюймы): </a:t>
            </a:r>
            <a:r>
              <a:rPr lang="en" dirty="0">
                <a:hlinkClick r:id="rId3"/>
              </a:rPr>
              <a:t>http://wttr.in/?u</a:t>
            </a:r>
            <a:r>
              <a:rPr lang="en" dirty="0"/>
              <a:t> . </a:t>
            </a:r>
            <a:r>
              <a:rPr lang="ru-RU" dirty="0"/>
              <a:t>Для таких параметров в словаре в качестве значения указывается пустая строка.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4FD14C-C896-9B4B-AB52-198BE38E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16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F27571-103E-704D-B4A1-969D6759E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8" y="1570742"/>
            <a:ext cx="5644342" cy="439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88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запросов 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199" y="1690688"/>
            <a:ext cx="61376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import requests </a:t>
            </a:r>
          </a:p>
          <a:p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endParaRPr lang="e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ship_url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 = "https://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swapi.dev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api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/starships/" </a:t>
            </a:r>
          </a:p>
          <a:p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params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 = {"search": "X-wing"} </a:t>
            </a:r>
          </a:p>
          <a:p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response = 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requests.get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ship_url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params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params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ship_data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response.json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endParaRPr lang="e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ship_data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B87EA95-280A-0C48-8962-6E71B45F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99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будут лабораторные работы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200" y="1992346"/>
            <a:ext cx="99649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https://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/grand-roman/WEBKHSU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337590-4068-F546-8C70-46D48FEE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1803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1148</Words>
  <Application>Microsoft Macintosh PowerPoint</Application>
  <PresentationFormat>Широкоэкранный</PresentationFormat>
  <Paragraphs>125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Times New Roman</vt:lpstr>
      <vt:lpstr>Тема Office</vt:lpstr>
      <vt:lpstr>Web-технологии</vt:lpstr>
      <vt:lpstr>Обо мне</vt:lpstr>
      <vt:lpstr>Что вас ждёт</vt:lpstr>
      <vt:lpstr>Учим писать бэкенд на Python</vt:lpstr>
      <vt:lpstr>Сервер</vt:lpstr>
      <vt:lpstr>Что такое HTTP</vt:lpstr>
      <vt:lpstr>Что такое HTTP</vt:lpstr>
      <vt:lpstr>Протокол HTTP</vt:lpstr>
      <vt:lpstr>Протокол HTTP</vt:lpstr>
      <vt:lpstr>Подробнее об URL</vt:lpstr>
      <vt:lpstr>Кодирование URL</vt:lpstr>
      <vt:lpstr>Коды ответа HTTP</vt:lpstr>
      <vt:lpstr>HTTP-методы</vt:lpstr>
      <vt:lpstr>Python вместо браузера</vt:lpstr>
      <vt:lpstr>Передаём параметры в URL</vt:lpstr>
      <vt:lpstr>Передаём параметры в URL</vt:lpstr>
      <vt:lpstr>Пример запросов на Python</vt:lpstr>
      <vt:lpstr>Где будут лабораторные работы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Web-технологии</dc:title>
  <dc:creator>Microsoft Office User</dc:creator>
  <cp:lastModifiedBy>Microsoft Office User</cp:lastModifiedBy>
  <cp:revision>26</cp:revision>
  <dcterms:created xsi:type="dcterms:W3CDTF">2025-02-07T13:57:58Z</dcterms:created>
  <dcterms:modified xsi:type="dcterms:W3CDTF">2026-02-01T12:38:36Z</dcterms:modified>
</cp:coreProperties>
</file>